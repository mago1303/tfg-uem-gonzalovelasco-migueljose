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>
    <a:defPPr>
      <a:defRPr lang="es-ES"/>
    </a:defPPr>
    <a:lvl1pPr marL="0" algn="l">
      <a:defRPr sz="1800" kern="1200">
        <a:latin typeface="Aptos"/>
      </a:defRPr>
    </a:lvl1pPr>
  </p:defaultTextStyle>
</p:presentation>
</file>

<file path=ppt/presProps.xml><?xml version="1.0" encoding="utf-8"?>
<p:presentationPr xmlns:a="http://schemas.openxmlformats.org/drawingml/2006/main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/>
  <p:notesTextViewPr/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&#65279;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>
              <a:alpha val="72000"/>
            </a:srgbClr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3912">
              <a:alpha val="30000"/>
            </a:srgbClr>
          </a:solidFill>
          <a:ln>
            <a:noFill/>
          </a:ln>
        </p:spPr>
      </p:sp>
      <p:pic>
        <p:nvPicPr>
          <p:cNvPr id="6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558800"/>
            <a:ext cx="2667000" cy="78740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8255000" y="660400"/>
            <a:ext cx="2921000" cy="38100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331200" y="762000"/>
            <a:ext cx="2768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Proyecto Fin de Ciclo - DAM</a:t>
            </a:r>
            <a:endParaRPr lang="es-ES" sz="900"/>
          </a:p>
        </p:txBody>
      </p:sp>
      <p:sp>
        <p:nvSpPr>
          <p:cNvPr id="9" name="Text 9"/>
          <p:cNvSpPr txBox="1"/>
          <p:nvPr/>
        </p:nvSpPr>
        <p:spPr>
          <a:xfrm>
            <a:off x="711200" y="2260600"/>
            <a:ext cx="7493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4600" b="1">
                <a:solidFill>
                  <a:srgbClr val="FFFFFF"/>
                </a:solidFill>
                <a:latin typeface="Aptos"/>
              </a:rPr>
              <a:t>RoyalRent</a:t>
            </a:r>
            <a:endParaRPr lang="es-ES" sz="4600"/>
          </a:p>
        </p:txBody>
      </p:sp>
      <p:sp>
        <p:nvSpPr>
          <p:cNvPr id="10" name="Text 10"/>
          <p:cNvSpPr txBox="1"/>
          <p:nvPr/>
        </p:nvSpPr>
        <p:spPr>
          <a:xfrm>
            <a:off x="736600" y="3225800"/>
            <a:ext cx="787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800" b="1">
                <a:solidFill>
                  <a:srgbClr val="EED08B"/>
                </a:solidFill>
                <a:latin typeface="Aptos"/>
              </a:rPr>
              <a:t>Alquiler premium en una sola plataforma</a:t>
            </a:r>
            <a:endParaRPr lang="es-ES" sz="1800"/>
          </a:p>
        </p:txBody>
      </p:sp>
      <p:sp>
        <p:nvSpPr>
          <p:cNvPr id="11" name="Text 11"/>
          <p:cNvSpPr txBox="1"/>
          <p:nvPr/>
        </p:nvSpPr>
        <p:spPr>
          <a:xfrm>
            <a:off x="762000" y="3911600"/>
            <a:ext cx="749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300">
                <a:solidFill>
                  <a:srgbClr val="FFF8EB"/>
                </a:solidFill>
                <a:latin typeface="Aptos"/>
              </a:rPr>
              <a:t>Coches de lujo  |  Yates  |  Helicopteros</a:t>
            </a:r>
            <a:endParaRPr lang="es-ES" sz="1300"/>
          </a:p>
        </p:txBody>
      </p:sp>
      <p:sp>
        <p:nvSpPr>
          <p:cNvPr id="12" name="Shape 12"/>
          <p:cNvSpPr/>
          <p:nvPr/>
        </p:nvSpPr>
        <p:spPr>
          <a:xfrm>
            <a:off x="685800" y="5461000"/>
            <a:ext cx="10795000" cy="12700"/>
          </a:xfrm>
          <a:prstGeom prst="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711200" y="57150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200">
                <a:solidFill>
                  <a:srgbClr val="FFF8EB"/>
                </a:solidFill>
                <a:latin typeface="Aptos"/>
              </a:rPr>
              <a:t>Gonzalo Velasco &amp; Miguel Jose</a:t>
            </a:r>
            <a:endParaRPr lang="es-ES" sz="1200"/>
          </a:p>
        </p:txBody>
      </p:sp>
      <p:sp>
        <p:nvSpPr>
          <p:cNvPr id="14" name="Text 14"/>
          <p:cNvSpPr txBox="1"/>
          <p:nvPr/>
        </p:nvSpPr>
        <p:spPr>
          <a:xfrm>
            <a:off x="8483600" y="5715000"/>
            <a:ext cx="299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200">
                <a:solidFill>
                  <a:srgbClr val="FFF8EB"/>
                </a:solidFill>
                <a:latin typeface="Aptos"/>
              </a:rPr>
              <a:t>Defensa - 2 de junio de 2026</a:t>
            </a:r>
            <a:endParaRPr lang="es-E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8421F">
              <a:alpha val="28000"/>
            </a:srgbClr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60400" y="533400"/>
            <a:ext cx="4572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3000" b="1">
                <a:solidFill>
                  <a:srgbClr val="FFFFFF"/>
                </a:solidFill>
                <a:latin typeface="Aptos"/>
              </a:rPr>
              <a:t>La idea</a:t>
            </a:r>
            <a:endParaRPr lang="es-ES" sz="3000"/>
          </a:p>
        </p:txBody>
      </p:sp>
      <p:sp>
        <p:nvSpPr>
          <p:cNvPr id="18" name="Text 18"/>
          <p:cNvSpPr txBox="1"/>
          <p:nvPr/>
        </p:nvSpPr>
        <p:spPr>
          <a:xfrm>
            <a:off x="685800" y="11176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400" b="1">
                <a:solidFill>
                  <a:srgbClr val="EED08B"/>
                </a:solidFill>
                <a:latin typeface="Aptos"/>
              </a:rPr>
              <a:t>Una plataforma. Tres experiencias premium.</a:t>
            </a:r>
            <a:endParaRPr lang="es-ES" sz="1400"/>
          </a:p>
        </p:txBody>
      </p:sp>
      <p:pic>
        <p:nvPicPr>
          <p:cNvPr id="19" name="Picture 19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905000"/>
            <a:ext cx="3302000" cy="3175000"/>
          </a:xfrm>
          <a:prstGeom prst="rect">
            <a:avLst/>
          </a:prstGeom>
        </p:spPr>
      </p:pic>
      <p:pic>
        <p:nvPicPr>
          <p:cNvPr id="20" name="Picture 20"/>
          <p:cNvPicPr/>
          <p:nvPr/>
        </p:nvPicPr>
        <p:blipFill>
          <a:blip r:embed="rId3"/>
          <a:stretch>
            <a:fillRect/>
          </a:stretch>
        </p:blipFill>
        <p:spPr>
          <a:xfrm>
            <a:off x="4445000" y="1905000"/>
            <a:ext cx="3302000" cy="3175000"/>
          </a:xfrm>
          <a:prstGeom prst="rect">
            <a:avLst/>
          </a:prstGeom>
        </p:spPr>
      </p:pic>
      <p:pic>
        <p:nvPicPr>
          <p:cNvPr id="21" name="Picture 21"/>
          <p:cNvPicPr/>
          <p:nvPr/>
        </p:nvPicPr>
        <p:blipFill>
          <a:blip r:embed="rId4"/>
          <a:stretch>
            <a:fillRect/>
          </a:stretch>
        </p:blipFill>
        <p:spPr>
          <a:xfrm>
            <a:off x="8204200" y="1905000"/>
            <a:ext cx="3302000" cy="3175000"/>
          </a:xfrm>
          <a:prstGeom prst="rect">
            <a:avLst/>
          </a:prstGeom>
        </p:spPr>
      </p:pic>
      <p:sp>
        <p:nvSpPr>
          <p:cNvPr id="22" name="Shape 22"/>
          <p:cNvSpPr/>
          <p:nvPr/>
        </p:nvSpPr>
        <p:spPr>
          <a:xfrm>
            <a:off x="685800" y="4216400"/>
            <a:ext cx="3302000" cy="863600"/>
          </a:xfrm>
          <a:prstGeom prst="rect">
            <a:avLst/>
          </a:prstGeom>
          <a:solidFill>
            <a:srgbClr val="0F0F0F">
              <a:alpha val="84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4445000" y="4216400"/>
            <a:ext cx="3302000" cy="863600"/>
          </a:xfrm>
          <a:prstGeom prst="rect">
            <a:avLst/>
          </a:prstGeom>
          <a:solidFill>
            <a:srgbClr val="0F0F0F">
              <a:alpha val="84000"/>
            </a:srgbClr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8204200" y="4216400"/>
            <a:ext cx="3302000" cy="863600"/>
          </a:xfrm>
          <a:prstGeom prst="rect">
            <a:avLst/>
          </a:prstGeom>
          <a:solidFill>
            <a:srgbClr val="0F0F0F">
              <a:alpha val="84000"/>
            </a:srgbClr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990600" y="44704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Aptos"/>
              </a:rPr>
              <a:t>Coches</a:t>
            </a:r>
            <a:endParaRPr lang="es-ES" sz="1800"/>
          </a:p>
        </p:txBody>
      </p:sp>
      <p:sp>
        <p:nvSpPr>
          <p:cNvPr id="26" name="Text 26"/>
          <p:cNvSpPr txBox="1"/>
          <p:nvPr/>
        </p:nvSpPr>
        <p:spPr>
          <a:xfrm>
            <a:off x="4749800" y="44704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Aptos"/>
              </a:rPr>
              <a:t>Yates</a:t>
            </a:r>
            <a:endParaRPr lang="es-ES" sz="1800"/>
          </a:p>
        </p:txBody>
      </p:sp>
      <p:sp>
        <p:nvSpPr>
          <p:cNvPr id="27" name="Text 27"/>
          <p:cNvSpPr txBox="1"/>
          <p:nvPr/>
        </p:nvSpPr>
        <p:spPr>
          <a:xfrm>
            <a:off x="8509000" y="44704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Aptos"/>
              </a:rPr>
              <a:t>Helicopteros</a:t>
            </a:r>
            <a:endParaRPr lang="es-ES" sz="1800"/>
          </a:p>
        </p:txBody>
      </p:sp>
      <p:sp>
        <p:nvSpPr>
          <p:cNvPr id="28" name="Shape 28"/>
          <p:cNvSpPr/>
          <p:nvPr/>
        </p:nvSpPr>
        <p:spPr>
          <a:xfrm>
            <a:off x="1905000" y="5562600"/>
            <a:ext cx="2032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1981200" y="5664200"/>
            <a:ext cx="1879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Catalogo unico</a:t>
            </a:r>
            <a:endParaRPr lang="es-ES" sz="900"/>
          </a:p>
        </p:txBody>
      </p:sp>
      <p:sp>
        <p:nvSpPr>
          <p:cNvPr id="30" name="Shape 30"/>
          <p:cNvSpPr/>
          <p:nvPr/>
        </p:nvSpPr>
        <p:spPr>
          <a:xfrm>
            <a:off x="5080000" y="5562600"/>
            <a:ext cx="2032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5156200" y="5664200"/>
            <a:ext cx="1879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Reserva guiada</a:t>
            </a:r>
            <a:endParaRPr lang="es-ES" sz="900"/>
          </a:p>
        </p:txBody>
      </p:sp>
      <p:sp>
        <p:nvSpPr>
          <p:cNvPr id="32" name="Shape 32"/>
          <p:cNvSpPr/>
          <p:nvPr/>
        </p:nvSpPr>
        <p:spPr>
          <a:xfrm>
            <a:off x="8255000" y="5562600"/>
            <a:ext cx="2032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8331200" y="5664200"/>
            <a:ext cx="1879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Gestion interna</a:t>
            </a:r>
            <a:endParaRPr lang="es-E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660400" y="5080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2800" b="1">
                <a:solidFill>
                  <a:srgbClr val="191919"/>
                </a:solidFill>
                <a:latin typeface="Aptos"/>
              </a:rPr>
              <a:t>Objetivo del proyecto</a:t>
            </a:r>
            <a:endParaRPr lang="es-ES" sz="2800"/>
          </a:p>
        </p:txBody>
      </p:sp>
      <p:sp>
        <p:nvSpPr>
          <p:cNvPr id="36" name="Text 36"/>
          <p:cNvSpPr txBox="1"/>
          <p:nvPr/>
        </p:nvSpPr>
        <p:spPr>
          <a:xfrm>
            <a:off x="685800" y="11176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200">
                <a:solidFill>
                  <a:srgbClr val="5C5241"/>
                </a:solidFill>
                <a:latin typeface="Aptos"/>
              </a:rPr>
              <a:t>Demostrar una aplicacion full-stack usable de principio a fin.</a:t>
            </a:r>
            <a:endParaRPr lang="es-ES" sz="1200"/>
          </a:p>
        </p:txBody>
      </p:sp>
      <p:sp>
        <p:nvSpPr>
          <p:cNvPr id="37" name="Shape 37"/>
          <p:cNvSpPr/>
          <p:nvPr/>
        </p:nvSpPr>
        <p:spPr>
          <a:xfrm>
            <a:off x="863600" y="1955800"/>
            <a:ext cx="3175000" cy="2413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38" name="Shape 38"/>
          <p:cNvSpPr/>
          <p:nvPr/>
        </p:nvSpPr>
        <p:spPr>
          <a:xfrm>
            <a:off x="863600" y="1955800"/>
            <a:ext cx="76200" cy="2413000"/>
          </a:xfrm>
          <a:prstGeom prst="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10922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Usuario</a:t>
            </a:r>
            <a:endParaRPr lang="es-ES" sz="1500"/>
          </a:p>
        </p:txBody>
      </p:sp>
      <p:sp>
        <p:nvSpPr>
          <p:cNvPr id="40" name="Text 40"/>
          <p:cNvSpPr txBox="1"/>
          <p:nvPr/>
        </p:nvSpPr>
        <p:spPr>
          <a:xfrm>
            <a:off x="1092200" y="2514600"/>
            <a:ext cx="27940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Registro, login, perfil e historial de reservas.</a:t>
            </a:r>
            <a:endParaRPr lang="es-ES" sz="1050"/>
          </a:p>
        </p:txBody>
      </p:sp>
      <p:sp>
        <p:nvSpPr>
          <p:cNvPr id="41" name="Shape 41"/>
          <p:cNvSpPr/>
          <p:nvPr/>
        </p:nvSpPr>
        <p:spPr>
          <a:xfrm>
            <a:off x="4521200" y="1955800"/>
            <a:ext cx="3175000" cy="2413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42" name="Shape 42"/>
          <p:cNvSpPr/>
          <p:nvPr/>
        </p:nvSpPr>
        <p:spPr>
          <a:xfrm>
            <a:off x="4521200" y="1955800"/>
            <a:ext cx="76200" cy="2413000"/>
          </a:xfrm>
          <a:prstGeom prst="rect">
            <a:avLst/>
          </a:prstGeom>
          <a:solidFill>
            <a:srgbClr val="4E79B5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47498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Reserva</a:t>
            </a:r>
            <a:endParaRPr lang="es-ES" sz="1500"/>
          </a:p>
        </p:txBody>
      </p:sp>
      <p:sp>
        <p:nvSpPr>
          <p:cNvPr id="44" name="Text 44"/>
          <p:cNvSpPr txBox="1"/>
          <p:nvPr/>
        </p:nvSpPr>
        <p:spPr>
          <a:xfrm>
            <a:off x="4749800" y="2514600"/>
            <a:ext cx="27940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Catalogo filtrado, calendario, carrito y pago simulado.</a:t>
            </a:r>
            <a:endParaRPr lang="es-ES" sz="1050"/>
          </a:p>
        </p:txBody>
      </p:sp>
      <p:sp>
        <p:nvSpPr>
          <p:cNvPr id="45" name="Shape 45"/>
          <p:cNvSpPr/>
          <p:nvPr/>
        </p:nvSpPr>
        <p:spPr>
          <a:xfrm>
            <a:off x="8178800" y="1955800"/>
            <a:ext cx="3175000" cy="2413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46" name="Shape 46"/>
          <p:cNvSpPr/>
          <p:nvPr/>
        </p:nvSpPr>
        <p:spPr>
          <a:xfrm>
            <a:off x="8178800" y="1955800"/>
            <a:ext cx="76200" cy="2413000"/>
          </a:xfrm>
          <a:prstGeom prst="rect">
            <a:avLst/>
          </a:prstGeom>
          <a:solidFill>
            <a:srgbClr val="4E9762"/>
          </a:solidFill>
          <a:ln>
            <a:noFill/>
          </a:ln>
        </p:spPr>
      </p:sp>
      <p:sp>
        <p:nvSpPr>
          <p:cNvPr id="47" name="Text 47"/>
          <p:cNvSpPr txBox="1"/>
          <p:nvPr/>
        </p:nvSpPr>
        <p:spPr>
          <a:xfrm>
            <a:off x="84074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Admin</a:t>
            </a:r>
            <a:endParaRPr lang="es-ES" sz="1500"/>
          </a:p>
        </p:txBody>
      </p:sp>
      <p:sp>
        <p:nvSpPr>
          <p:cNvPr id="48" name="Text 48"/>
          <p:cNvSpPr txBox="1"/>
          <p:nvPr/>
        </p:nvSpPr>
        <p:spPr>
          <a:xfrm>
            <a:off x="8407400" y="2514600"/>
            <a:ext cx="27940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Panel con usuarios, pedidos, vehiculos, mensajes y disponibilidad.</a:t>
            </a:r>
            <a:endParaRPr lang="es-ES" sz="1050"/>
          </a:p>
        </p:txBody>
      </p:sp>
      <p:sp>
        <p:nvSpPr>
          <p:cNvPr id="49" name="Text 49"/>
          <p:cNvSpPr txBox="1"/>
          <p:nvPr/>
        </p:nvSpPr>
        <p:spPr>
          <a:xfrm>
            <a:off x="1600200" y="5080000"/>
            <a:ext cx="9017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900" b="1">
                <a:solidFill>
                  <a:srgbClr val="191919"/>
                </a:solidFill>
                <a:latin typeface="Aptos"/>
              </a:rPr>
              <a:t>La clave: conectar interfaz, servidor y base de datos en un flujo real.</a:t>
            </a:r>
            <a:endParaRPr lang="es-ES" sz="1900"/>
          </a:p>
        </p:txBody>
      </p:sp>
      <p:sp>
        <p:nvSpPr>
          <p:cNvPr id="50" name="Shape 50"/>
          <p:cNvSpPr/>
          <p:nvPr/>
        </p:nvSpPr>
        <p:spPr>
          <a:xfrm>
            <a:off x="660400" y="6477000"/>
            <a:ext cx="10871200" cy="12700"/>
          </a:xfrm>
          <a:prstGeom prst="rect">
            <a:avLst/>
          </a:prstGeom>
          <a:solidFill>
            <a:srgbClr val="DECBA0"/>
          </a:solidFill>
          <a:ln>
            <a:noFill/>
          </a:ln>
        </p:spPr>
      </p:sp>
      <p:sp>
        <p:nvSpPr>
          <p:cNvPr id="51" name="Text 51"/>
          <p:cNvSpPr txBox="1"/>
          <p:nvPr/>
        </p:nvSpPr>
        <p:spPr>
          <a:xfrm>
            <a:off x="660400" y="6604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800" b="1">
                <a:solidFill>
                  <a:srgbClr val="766037"/>
                </a:solidFill>
                <a:latin typeface="Aptos"/>
              </a:rPr>
              <a:t>RoyalRent</a:t>
            </a:r>
            <a:endParaRPr lang="es-ES" sz="800"/>
          </a:p>
        </p:txBody>
      </p:sp>
      <p:sp>
        <p:nvSpPr>
          <p:cNvPr id="52" name="Text 52"/>
          <p:cNvSpPr txBox="1"/>
          <p:nvPr/>
        </p:nvSpPr>
        <p:spPr>
          <a:xfrm>
            <a:off x="10896600" y="6604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800">
                <a:solidFill>
                  <a:srgbClr val="766037"/>
                </a:solidFill>
                <a:latin typeface="Aptos"/>
              </a:rPr>
              <a:t>3 / 12</a:t>
            </a:r>
            <a:endParaRPr lang="es-E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</p:sp>
      <p:sp>
        <p:nvSpPr>
          <p:cNvPr id="54" name="Text 54"/>
          <p:cNvSpPr txBox="1"/>
          <p:nvPr/>
        </p:nvSpPr>
        <p:spPr>
          <a:xfrm>
            <a:off x="660400" y="5080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2800" b="1">
                <a:solidFill>
                  <a:srgbClr val="191919"/>
                </a:solidFill>
                <a:latin typeface="Aptos"/>
              </a:rPr>
              <a:t>Flujo de usuario</a:t>
            </a:r>
            <a:endParaRPr lang="es-ES" sz="2800"/>
          </a:p>
        </p:txBody>
      </p:sp>
      <p:sp>
        <p:nvSpPr>
          <p:cNvPr id="55" name="Text 55"/>
          <p:cNvSpPr txBox="1"/>
          <p:nvPr/>
        </p:nvSpPr>
        <p:spPr>
          <a:xfrm>
            <a:off x="685800" y="11176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200">
                <a:solidFill>
                  <a:srgbClr val="5C5241"/>
                </a:solidFill>
                <a:latin typeface="Aptos"/>
              </a:rPr>
              <a:t>Lo que se ensena en la demo.</a:t>
            </a:r>
            <a:endParaRPr lang="es-ES" sz="1200"/>
          </a:p>
        </p:txBody>
      </p:sp>
      <p:sp>
        <p:nvSpPr>
          <p:cNvPr id="56" name="Shape 56"/>
          <p:cNvSpPr/>
          <p:nvPr/>
        </p:nvSpPr>
        <p:spPr>
          <a:xfrm>
            <a:off x="1016000" y="2286000"/>
            <a:ext cx="1905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CCA0"/>
            </a:solidFill>
          </a:ln>
        </p:spPr>
      </p:sp>
      <p:sp>
        <p:nvSpPr>
          <p:cNvPr id="57" name="Shape 57"/>
          <p:cNvSpPr/>
          <p:nvPr/>
        </p:nvSpPr>
        <p:spPr>
          <a:xfrm>
            <a:off x="1651000" y="2603500"/>
            <a:ext cx="635000" cy="635000"/>
          </a:xfrm>
          <a:prstGeom prst="round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58" name="Text 58"/>
          <p:cNvSpPr txBox="1"/>
          <p:nvPr/>
        </p:nvSpPr>
        <p:spPr>
          <a:xfrm>
            <a:off x="1651000" y="27559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Aptos"/>
              </a:rPr>
              <a:t>1</a:t>
            </a:r>
            <a:endParaRPr lang="es-ES" sz="1800"/>
          </a:p>
        </p:txBody>
      </p:sp>
      <p:sp>
        <p:nvSpPr>
          <p:cNvPr id="59" name="Text 59"/>
          <p:cNvSpPr txBox="1"/>
          <p:nvPr/>
        </p:nvSpPr>
        <p:spPr>
          <a:xfrm>
            <a:off x="1143000" y="34544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600" b="1">
                <a:solidFill>
                  <a:srgbClr val="191919"/>
                </a:solidFill>
                <a:latin typeface="Aptos"/>
              </a:rPr>
              <a:t>Explorar</a:t>
            </a:r>
            <a:endParaRPr lang="es-ES" sz="1600"/>
          </a:p>
        </p:txBody>
      </p:sp>
      <p:sp>
        <p:nvSpPr>
          <p:cNvPr id="60" name="Text 60"/>
          <p:cNvSpPr txBox="1"/>
          <p:nvPr/>
        </p:nvSpPr>
        <p:spPr>
          <a:xfrm>
            <a:off x="1143000" y="38100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000">
                <a:solidFill>
                  <a:srgbClr val="5E5648"/>
                </a:solidFill>
                <a:latin typeface="Aptos"/>
              </a:rPr>
              <a:t>Home y catalogo</a:t>
            </a:r>
            <a:endParaRPr lang="es-ES" sz="1000"/>
          </a:p>
        </p:txBody>
      </p:sp>
      <p:sp>
        <p:nvSpPr>
          <p:cNvPr id="61" name="Text 61"/>
          <p:cNvSpPr txBox="1"/>
          <p:nvPr/>
        </p:nvSpPr>
        <p:spPr>
          <a:xfrm>
            <a:off x="3276600" y="30226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2600" b="1">
                <a:solidFill>
                  <a:srgbClr val="D2AA5C"/>
                </a:solidFill>
                <a:latin typeface="Aptos"/>
              </a:rPr>
              <a:t>&gt;</a:t>
            </a:r>
            <a:endParaRPr lang="es-ES" sz="2600"/>
          </a:p>
        </p:txBody>
      </p:sp>
      <p:sp>
        <p:nvSpPr>
          <p:cNvPr id="62" name="Shape 62"/>
          <p:cNvSpPr/>
          <p:nvPr/>
        </p:nvSpPr>
        <p:spPr>
          <a:xfrm>
            <a:off x="3683000" y="2286000"/>
            <a:ext cx="1905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CCA0"/>
            </a:solidFill>
          </a:ln>
        </p:spPr>
      </p:sp>
      <p:sp>
        <p:nvSpPr>
          <p:cNvPr id="63" name="Shape 63"/>
          <p:cNvSpPr/>
          <p:nvPr/>
        </p:nvSpPr>
        <p:spPr>
          <a:xfrm>
            <a:off x="4318000" y="2603500"/>
            <a:ext cx="635000" cy="635000"/>
          </a:xfrm>
          <a:prstGeom prst="round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64" name="Text 64"/>
          <p:cNvSpPr txBox="1"/>
          <p:nvPr/>
        </p:nvSpPr>
        <p:spPr>
          <a:xfrm>
            <a:off x="4318000" y="27559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Aptos"/>
              </a:rPr>
              <a:t>2</a:t>
            </a:r>
            <a:endParaRPr lang="es-ES" sz="1800"/>
          </a:p>
        </p:txBody>
      </p:sp>
      <p:sp>
        <p:nvSpPr>
          <p:cNvPr id="65" name="Text 65"/>
          <p:cNvSpPr txBox="1"/>
          <p:nvPr/>
        </p:nvSpPr>
        <p:spPr>
          <a:xfrm>
            <a:off x="3810000" y="34544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600" b="1">
                <a:solidFill>
                  <a:srgbClr val="191919"/>
                </a:solidFill>
                <a:latin typeface="Aptos"/>
              </a:rPr>
              <a:t>Elegir</a:t>
            </a:r>
            <a:endParaRPr lang="es-ES" sz="1600"/>
          </a:p>
        </p:txBody>
      </p:sp>
      <p:sp>
        <p:nvSpPr>
          <p:cNvPr id="66" name="Text 66"/>
          <p:cNvSpPr txBox="1"/>
          <p:nvPr/>
        </p:nvSpPr>
        <p:spPr>
          <a:xfrm>
            <a:off x="3810000" y="38100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000">
                <a:solidFill>
                  <a:srgbClr val="5E5648"/>
                </a:solidFill>
                <a:latin typeface="Aptos"/>
              </a:rPr>
              <a:t>Ficha + fechas</a:t>
            </a:r>
            <a:endParaRPr lang="es-ES" sz="1000"/>
          </a:p>
        </p:txBody>
      </p:sp>
      <p:sp>
        <p:nvSpPr>
          <p:cNvPr id="67" name="Text 67"/>
          <p:cNvSpPr txBox="1"/>
          <p:nvPr/>
        </p:nvSpPr>
        <p:spPr>
          <a:xfrm>
            <a:off x="5943600" y="30226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2600" b="1">
                <a:solidFill>
                  <a:srgbClr val="D2AA5C"/>
                </a:solidFill>
                <a:latin typeface="Aptos"/>
              </a:rPr>
              <a:t>&gt;</a:t>
            </a:r>
            <a:endParaRPr lang="es-ES" sz="2600"/>
          </a:p>
        </p:txBody>
      </p:sp>
      <p:sp>
        <p:nvSpPr>
          <p:cNvPr id="68" name="Shape 68"/>
          <p:cNvSpPr/>
          <p:nvPr/>
        </p:nvSpPr>
        <p:spPr>
          <a:xfrm>
            <a:off x="6350000" y="2286000"/>
            <a:ext cx="1905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CCA0"/>
            </a:solidFill>
          </a:ln>
        </p:spPr>
      </p:sp>
      <p:sp>
        <p:nvSpPr>
          <p:cNvPr id="69" name="Shape 69"/>
          <p:cNvSpPr/>
          <p:nvPr/>
        </p:nvSpPr>
        <p:spPr>
          <a:xfrm>
            <a:off x="6985000" y="2603500"/>
            <a:ext cx="635000" cy="635000"/>
          </a:xfrm>
          <a:prstGeom prst="round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70" name="Text 70"/>
          <p:cNvSpPr txBox="1"/>
          <p:nvPr/>
        </p:nvSpPr>
        <p:spPr>
          <a:xfrm>
            <a:off x="6985000" y="27559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Aptos"/>
              </a:rPr>
              <a:t>3</a:t>
            </a:r>
            <a:endParaRPr lang="es-ES" sz="1800"/>
          </a:p>
        </p:txBody>
      </p:sp>
      <p:sp>
        <p:nvSpPr>
          <p:cNvPr id="71" name="Text 71"/>
          <p:cNvSpPr txBox="1"/>
          <p:nvPr/>
        </p:nvSpPr>
        <p:spPr>
          <a:xfrm>
            <a:off x="6477000" y="34544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600" b="1">
                <a:solidFill>
                  <a:srgbClr val="191919"/>
                </a:solidFill>
                <a:latin typeface="Aptos"/>
              </a:rPr>
              <a:t>Reservar</a:t>
            </a:r>
            <a:endParaRPr lang="es-ES" sz="1600"/>
          </a:p>
        </p:txBody>
      </p:sp>
      <p:sp>
        <p:nvSpPr>
          <p:cNvPr id="72" name="Text 72"/>
          <p:cNvSpPr txBox="1"/>
          <p:nvPr/>
        </p:nvSpPr>
        <p:spPr>
          <a:xfrm>
            <a:off x="6477000" y="38100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000">
                <a:solidFill>
                  <a:srgbClr val="5E5648"/>
                </a:solidFill>
                <a:latin typeface="Aptos"/>
              </a:rPr>
              <a:t>Carrito + pago</a:t>
            </a:r>
            <a:endParaRPr lang="es-ES" sz="1000"/>
          </a:p>
        </p:txBody>
      </p:sp>
      <p:sp>
        <p:nvSpPr>
          <p:cNvPr id="73" name="Text 73"/>
          <p:cNvSpPr txBox="1"/>
          <p:nvPr/>
        </p:nvSpPr>
        <p:spPr>
          <a:xfrm>
            <a:off x="8610600" y="30226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2600" b="1">
                <a:solidFill>
                  <a:srgbClr val="D2AA5C"/>
                </a:solidFill>
                <a:latin typeface="Aptos"/>
              </a:rPr>
              <a:t>&gt;</a:t>
            </a:r>
            <a:endParaRPr lang="es-ES" sz="2600"/>
          </a:p>
        </p:txBody>
      </p:sp>
      <p:sp>
        <p:nvSpPr>
          <p:cNvPr id="74" name="Shape 74"/>
          <p:cNvSpPr/>
          <p:nvPr/>
        </p:nvSpPr>
        <p:spPr>
          <a:xfrm>
            <a:off x="9017000" y="2286000"/>
            <a:ext cx="1905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CCA0"/>
            </a:solidFill>
          </a:ln>
        </p:spPr>
      </p:sp>
      <p:sp>
        <p:nvSpPr>
          <p:cNvPr id="75" name="Shape 75"/>
          <p:cNvSpPr/>
          <p:nvPr/>
        </p:nvSpPr>
        <p:spPr>
          <a:xfrm>
            <a:off x="9652000" y="2603500"/>
            <a:ext cx="635000" cy="635000"/>
          </a:xfrm>
          <a:prstGeom prst="round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76" name="Text 76"/>
          <p:cNvSpPr txBox="1"/>
          <p:nvPr/>
        </p:nvSpPr>
        <p:spPr>
          <a:xfrm>
            <a:off x="9652000" y="27559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Aptos"/>
              </a:rPr>
              <a:t>4</a:t>
            </a:r>
            <a:endParaRPr lang="es-ES" sz="1800"/>
          </a:p>
        </p:txBody>
      </p:sp>
      <p:sp>
        <p:nvSpPr>
          <p:cNvPr id="77" name="Text 77"/>
          <p:cNvSpPr txBox="1"/>
          <p:nvPr/>
        </p:nvSpPr>
        <p:spPr>
          <a:xfrm>
            <a:off x="9144000" y="34544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600" b="1">
                <a:solidFill>
                  <a:srgbClr val="191919"/>
                </a:solidFill>
                <a:latin typeface="Aptos"/>
              </a:rPr>
              <a:t>Consultar</a:t>
            </a:r>
            <a:endParaRPr lang="es-ES" sz="1600"/>
          </a:p>
        </p:txBody>
      </p:sp>
      <p:sp>
        <p:nvSpPr>
          <p:cNvPr id="78" name="Text 78"/>
          <p:cNvSpPr txBox="1"/>
          <p:nvPr/>
        </p:nvSpPr>
        <p:spPr>
          <a:xfrm>
            <a:off x="9144000" y="38100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000">
                <a:solidFill>
                  <a:srgbClr val="5E5648"/>
                </a:solidFill>
                <a:latin typeface="Aptos"/>
              </a:rPr>
              <a:t>Perfil + historial</a:t>
            </a:r>
            <a:endParaRPr lang="es-ES" sz="1000"/>
          </a:p>
        </p:txBody>
      </p:sp>
      <p:sp>
        <p:nvSpPr>
          <p:cNvPr id="79" name="Text 79"/>
          <p:cNvSpPr txBox="1"/>
          <p:nvPr/>
        </p:nvSpPr>
        <p:spPr>
          <a:xfrm>
            <a:off x="1905000" y="5143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600" b="1">
                <a:solidFill>
                  <a:srgbClr val="484239"/>
                </a:solidFill>
                <a:latin typeface="Aptos"/>
              </a:rPr>
              <a:t>Consejo: hablar mientras se navega. No explicar todo antes de mostrarlo.</a:t>
            </a:r>
            <a:endParaRPr lang="es-ES" sz="1600"/>
          </a:p>
        </p:txBody>
      </p:sp>
      <p:sp>
        <p:nvSpPr>
          <p:cNvPr id="80" name="Shape 80"/>
          <p:cNvSpPr/>
          <p:nvPr/>
        </p:nvSpPr>
        <p:spPr>
          <a:xfrm>
            <a:off x="660400" y="6477000"/>
            <a:ext cx="10871200" cy="12700"/>
          </a:xfrm>
          <a:prstGeom prst="rect">
            <a:avLst/>
          </a:prstGeom>
          <a:solidFill>
            <a:srgbClr val="DECBA0"/>
          </a:solidFill>
          <a:ln>
            <a:noFill/>
          </a:ln>
        </p:spPr>
      </p:sp>
      <p:sp>
        <p:nvSpPr>
          <p:cNvPr id="81" name="Text 81"/>
          <p:cNvSpPr txBox="1"/>
          <p:nvPr/>
        </p:nvSpPr>
        <p:spPr>
          <a:xfrm>
            <a:off x="660400" y="6604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800" b="1">
                <a:solidFill>
                  <a:srgbClr val="766037"/>
                </a:solidFill>
                <a:latin typeface="Aptos"/>
              </a:rPr>
              <a:t>RoyalRent</a:t>
            </a:r>
            <a:endParaRPr lang="es-ES" sz="800"/>
          </a:p>
        </p:txBody>
      </p:sp>
      <p:sp>
        <p:nvSpPr>
          <p:cNvPr id="82" name="Text 82"/>
          <p:cNvSpPr txBox="1"/>
          <p:nvPr/>
        </p:nvSpPr>
        <p:spPr>
          <a:xfrm>
            <a:off x="10896600" y="6604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800">
                <a:solidFill>
                  <a:srgbClr val="766037"/>
                </a:solidFill>
                <a:latin typeface="Aptos"/>
              </a:rPr>
              <a:t>4 / 12</a:t>
            </a:r>
            <a:endParaRPr lang="es-E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91000" cy="6858000"/>
          </a:xfrm>
          <a:prstGeom prst="rect">
            <a:avLst/>
          </a:prstGeom>
        </p:spPr>
      </p:pic>
      <p:pic>
        <p:nvPicPr>
          <p:cNvPr id="84" name="Picture 84"/>
          <p:cNvPicPr/>
          <p:nvPr/>
        </p:nvPicPr>
        <p:blipFill>
          <a:blip r:embed="rId3"/>
          <a:stretch>
            <a:fillRect/>
          </a:stretch>
        </p:blipFill>
        <p:spPr>
          <a:xfrm>
            <a:off x="4000500" y="0"/>
            <a:ext cx="4191000" cy="6858000"/>
          </a:xfrm>
          <a:prstGeom prst="rect">
            <a:avLst/>
          </a:prstGeom>
        </p:spPr>
      </p:pic>
      <p:pic>
        <p:nvPicPr>
          <p:cNvPr id="85" name="Picture 85"/>
          <p:cNvPicPr/>
          <p:nvPr/>
        </p:nvPicPr>
        <p:blipFill>
          <a:blip r:embed="rId4"/>
          <a:stretch>
            <a:fillRect/>
          </a:stretch>
        </p:blipFill>
        <p:spPr>
          <a:xfrm>
            <a:off x="8001000" y="0"/>
            <a:ext cx="4191000" cy="6858000"/>
          </a:xfrm>
          <a:prstGeom prst="rect">
            <a:avLst/>
          </a:prstGeom>
        </p:spPr>
      </p:pic>
      <p:sp>
        <p:nvSpPr>
          <p:cNvPr id="86" name="Shape 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>
              <a:alpha val="68000"/>
            </a:srgbClr>
          </a:solidFill>
          <a:ln>
            <a:noFill/>
          </a:ln>
        </p:spPr>
      </p:sp>
      <p:sp>
        <p:nvSpPr>
          <p:cNvPr id="87" name="Text 87"/>
          <p:cNvSpPr txBox="1"/>
          <p:nvPr/>
        </p:nvSpPr>
        <p:spPr>
          <a:xfrm>
            <a:off x="711200" y="660400"/>
            <a:ext cx="660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3200" b="1">
                <a:solidFill>
                  <a:srgbClr val="FFFFFF"/>
                </a:solidFill>
                <a:latin typeface="Aptos"/>
              </a:rPr>
              <a:t>Catalogo y reserva</a:t>
            </a:r>
            <a:endParaRPr lang="es-ES" sz="3200"/>
          </a:p>
        </p:txBody>
      </p:sp>
      <p:sp>
        <p:nvSpPr>
          <p:cNvPr id="88" name="Text 88"/>
          <p:cNvSpPr txBox="1"/>
          <p:nvPr/>
        </p:nvSpPr>
        <p:spPr>
          <a:xfrm>
            <a:off x="736600" y="1270000"/>
            <a:ext cx="533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EED08B"/>
                </a:solidFill>
                <a:latin typeface="Aptos"/>
              </a:rPr>
              <a:t>La pantalla principal de negocio</a:t>
            </a:r>
            <a:endParaRPr lang="es-ES" sz="1500"/>
          </a:p>
        </p:txBody>
      </p:sp>
      <p:sp>
        <p:nvSpPr>
          <p:cNvPr id="89" name="Shape 89"/>
          <p:cNvSpPr/>
          <p:nvPr/>
        </p:nvSpPr>
        <p:spPr>
          <a:xfrm>
            <a:off x="711200" y="2209800"/>
            <a:ext cx="3175000" cy="1905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90" name="Shape 90"/>
          <p:cNvSpPr/>
          <p:nvPr/>
        </p:nvSpPr>
        <p:spPr>
          <a:xfrm>
            <a:off x="711200" y="2209800"/>
            <a:ext cx="76200" cy="1905000"/>
          </a:xfrm>
          <a:prstGeom prst="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91" name="Text 91"/>
          <p:cNvSpPr txBox="1"/>
          <p:nvPr/>
        </p:nvSpPr>
        <p:spPr>
          <a:xfrm>
            <a:off x="939800" y="2387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Filtros</a:t>
            </a:r>
            <a:endParaRPr lang="es-ES" sz="1500"/>
          </a:p>
        </p:txBody>
      </p:sp>
      <p:sp>
        <p:nvSpPr>
          <p:cNvPr id="92" name="Text 92"/>
          <p:cNvSpPr txBox="1"/>
          <p:nvPr/>
        </p:nvSpPr>
        <p:spPr>
          <a:xfrm>
            <a:off x="939800" y="2768600"/>
            <a:ext cx="27940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Coches, yates y helicopteros.</a:t>
            </a:r>
            <a:endParaRPr lang="es-ES" sz="1050"/>
          </a:p>
        </p:txBody>
      </p:sp>
      <p:sp>
        <p:nvSpPr>
          <p:cNvPr id="93" name="Shape 93"/>
          <p:cNvSpPr/>
          <p:nvPr/>
        </p:nvSpPr>
        <p:spPr>
          <a:xfrm>
            <a:off x="4521200" y="2209800"/>
            <a:ext cx="3175000" cy="1905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94" name="Shape 94"/>
          <p:cNvSpPr/>
          <p:nvPr/>
        </p:nvSpPr>
        <p:spPr>
          <a:xfrm>
            <a:off x="4521200" y="2209800"/>
            <a:ext cx="76200" cy="1905000"/>
          </a:xfrm>
          <a:prstGeom prst="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95" name="Text 95"/>
          <p:cNvSpPr txBox="1"/>
          <p:nvPr/>
        </p:nvSpPr>
        <p:spPr>
          <a:xfrm>
            <a:off x="4749800" y="2387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Ficha</a:t>
            </a:r>
            <a:endParaRPr lang="es-ES" sz="1500"/>
          </a:p>
        </p:txBody>
      </p:sp>
      <p:sp>
        <p:nvSpPr>
          <p:cNvPr id="96" name="Text 96"/>
          <p:cNvSpPr txBox="1"/>
          <p:nvPr/>
        </p:nvSpPr>
        <p:spPr>
          <a:xfrm>
            <a:off x="4749800" y="2768600"/>
            <a:ext cx="27940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Galeria, precio y descripcion.</a:t>
            </a:r>
            <a:endParaRPr lang="es-ES" sz="1050"/>
          </a:p>
        </p:txBody>
      </p:sp>
      <p:sp>
        <p:nvSpPr>
          <p:cNvPr id="97" name="Shape 97"/>
          <p:cNvSpPr/>
          <p:nvPr/>
        </p:nvSpPr>
        <p:spPr>
          <a:xfrm>
            <a:off x="8331200" y="2209800"/>
            <a:ext cx="3175000" cy="1905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98" name="Shape 98"/>
          <p:cNvSpPr/>
          <p:nvPr/>
        </p:nvSpPr>
        <p:spPr>
          <a:xfrm>
            <a:off x="8331200" y="2209800"/>
            <a:ext cx="76200" cy="1905000"/>
          </a:xfrm>
          <a:prstGeom prst="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99" name="Text 99"/>
          <p:cNvSpPr txBox="1"/>
          <p:nvPr/>
        </p:nvSpPr>
        <p:spPr>
          <a:xfrm>
            <a:off x="8559800" y="2387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Calendario</a:t>
            </a:r>
            <a:endParaRPr lang="es-ES" sz="1500"/>
          </a:p>
        </p:txBody>
      </p:sp>
      <p:sp>
        <p:nvSpPr>
          <p:cNvPr id="100" name="Text 100"/>
          <p:cNvSpPr txBox="1"/>
          <p:nvPr/>
        </p:nvSpPr>
        <p:spPr>
          <a:xfrm>
            <a:off x="8559800" y="2768600"/>
            <a:ext cx="27940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Fechas de recogida y entrega.</a:t>
            </a:r>
            <a:endParaRPr lang="es-ES" sz="1050"/>
          </a:p>
        </p:txBody>
      </p:sp>
      <p:sp>
        <p:nvSpPr>
          <p:cNvPr id="101" name="Text 101"/>
          <p:cNvSpPr txBox="1"/>
          <p:nvPr/>
        </p:nvSpPr>
        <p:spPr>
          <a:xfrm>
            <a:off x="1143000" y="5130800"/>
            <a:ext cx="990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800" b="1">
                <a:solidFill>
                  <a:srgbClr val="FFF8EB"/>
                </a:solidFill>
                <a:latin typeface="Aptos"/>
              </a:rPr>
              <a:t>Cada servicio viene desde la API y se pinta dinamicamente en React.</a:t>
            </a:r>
            <a:endParaRPr lang="es-E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</p:sp>
      <p:sp>
        <p:nvSpPr>
          <p:cNvPr id="103" name="Text 103"/>
          <p:cNvSpPr txBox="1"/>
          <p:nvPr/>
        </p:nvSpPr>
        <p:spPr>
          <a:xfrm>
            <a:off x="660400" y="5080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2800" b="1">
                <a:solidFill>
                  <a:srgbClr val="191919"/>
                </a:solidFill>
                <a:latin typeface="Aptos"/>
              </a:rPr>
              <a:t>Carrito y perfil</a:t>
            </a:r>
            <a:endParaRPr lang="es-ES" sz="2800"/>
          </a:p>
        </p:txBody>
      </p:sp>
      <p:sp>
        <p:nvSpPr>
          <p:cNvPr id="104" name="Text 104"/>
          <p:cNvSpPr txBox="1"/>
          <p:nvPr/>
        </p:nvSpPr>
        <p:spPr>
          <a:xfrm>
            <a:off x="685800" y="11176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200">
                <a:solidFill>
                  <a:srgbClr val="5C5241"/>
                </a:solidFill>
                <a:latin typeface="Aptos"/>
              </a:rPr>
              <a:t>Del interes del usuario a una reserva registrada.</a:t>
            </a:r>
            <a:endParaRPr lang="es-ES" sz="1200"/>
          </a:p>
        </p:txBody>
      </p:sp>
      <p:sp>
        <p:nvSpPr>
          <p:cNvPr id="105" name="Shape 105"/>
          <p:cNvSpPr/>
          <p:nvPr/>
        </p:nvSpPr>
        <p:spPr>
          <a:xfrm>
            <a:off x="914400" y="1905000"/>
            <a:ext cx="4699000" cy="317500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</p:sp>
      <p:sp>
        <p:nvSpPr>
          <p:cNvPr id="106" name="Text 106"/>
          <p:cNvSpPr txBox="1"/>
          <p:nvPr/>
        </p:nvSpPr>
        <p:spPr>
          <a:xfrm>
            <a:off x="1320800" y="23368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2200" b="1">
                <a:solidFill>
                  <a:srgbClr val="EED08B"/>
                </a:solidFill>
                <a:latin typeface="Aptos"/>
              </a:rPr>
              <a:t>Carrito</a:t>
            </a:r>
            <a:endParaRPr lang="es-ES" sz="2200"/>
          </a:p>
        </p:txBody>
      </p:sp>
      <p:sp>
        <p:nvSpPr>
          <p:cNvPr id="107" name="Text 107"/>
          <p:cNvSpPr txBox="1"/>
          <p:nvPr/>
        </p:nvSpPr>
        <p:spPr>
          <a:xfrm>
            <a:off x="1320800" y="29210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FFFFFF"/>
                </a:solidFill>
                <a:latin typeface="Aptos"/>
              </a:rPr>
              <a:t>Fechas seleccionadas</a:t>
            </a:r>
            <a:endParaRPr lang="es-ES" sz="1500"/>
          </a:p>
        </p:txBody>
      </p:sp>
      <p:sp>
        <p:nvSpPr>
          <p:cNvPr id="108" name="Text 108"/>
          <p:cNvSpPr txBox="1"/>
          <p:nvPr/>
        </p:nvSpPr>
        <p:spPr>
          <a:xfrm>
            <a:off x="1320800" y="33782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FFFFFF"/>
                </a:solidFill>
                <a:latin typeface="Aptos"/>
              </a:rPr>
              <a:t>Cantidad y precio total</a:t>
            </a:r>
            <a:endParaRPr lang="es-ES" sz="1500"/>
          </a:p>
        </p:txBody>
      </p:sp>
      <p:sp>
        <p:nvSpPr>
          <p:cNvPr id="109" name="Text 109"/>
          <p:cNvSpPr txBox="1"/>
          <p:nvPr/>
        </p:nvSpPr>
        <p:spPr>
          <a:xfrm>
            <a:off x="1320800" y="38354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FFFFFF"/>
                </a:solidFill>
                <a:latin typeface="Aptos"/>
              </a:rPr>
              <a:t>Pago simulado seguro</a:t>
            </a:r>
            <a:endParaRPr lang="es-ES" sz="1500"/>
          </a:p>
        </p:txBody>
      </p:sp>
      <p:sp>
        <p:nvSpPr>
          <p:cNvPr id="110" name="Shape 110"/>
          <p:cNvSpPr/>
          <p:nvPr/>
        </p:nvSpPr>
        <p:spPr>
          <a:xfrm>
            <a:off x="6578600" y="1905000"/>
            <a:ext cx="4699000" cy="317500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</p:sp>
      <p:sp>
        <p:nvSpPr>
          <p:cNvPr id="111" name="Text 111"/>
          <p:cNvSpPr txBox="1"/>
          <p:nvPr/>
        </p:nvSpPr>
        <p:spPr>
          <a:xfrm>
            <a:off x="6985000" y="23368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2200" b="1">
                <a:solidFill>
                  <a:srgbClr val="EED08B"/>
                </a:solidFill>
                <a:latin typeface="Aptos"/>
              </a:rPr>
              <a:t>Perfil</a:t>
            </a:r>
            <a:endParaRPr lang="es-ES" sz="2200"/>
          </a:p>
        </p:txBody>
      </p:sp>
      <p:sp>
        <p:nvSpPr>
          <p:cNvPr id="112" name="Text 112"/>
          <p:cNvSpPr txBox="1"/>
          <p:nvPr/>
        </p:nvSpPr>
        <p:spPr>
          <a:xfrm>
            <a:off x="6985000" y="29210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FFFFFF"/>
                </a:solidFill>
                <a:latin typeface="Aptos"/>
              </a:rPr>
              <a:t>Datos editables</a:t>
            </a:r>
            <a:endParaRPr lang="es-ES" sz="1500"/>
          </a:p>
        </p:txBody>
      </p:sp>
      <p:sp>
        <p:nvSpPr>
          <p:cNvPr id="113" name="Text 113"/>
          <p:cNvSpPr txBox="1"/>
          <p:nvPr/>
        </p:nvSpPr>
        <p:spPr>
          <a:xfrm>
            <a:off x="6985000" y="33782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FFFFFF"/>
                </a:solidFill>
                <a:latin typeface="Aptos"/>
              </a:rPr>
              <a:t>Historial de reservas</a:t>
            </a:r>
            <a:endParaRPr lang="es-ES" sz="1500"/>
          </a:p>
        </p:txBody>
      </p:sp>
      <p:sp>
        <p:nvSpPr>
          <p:cNvPr id="114" name="Text 114"/>
          <p:cNvSpPr txBox="1"/>
          <p:nvPr/>
        </p:nvSpPr>
        <p:spPr>
          <a:xfrm>
            <a:off x="6985000" y="38354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FFFFFF"/>
                </a:solidFill>
                <a:latin typeface="Aptos"/>
              </a:rPr>
              <a:t>Calendario de cada pedido</a:t>
            </a:r>
            <a:endParaRPr lang="es-ES" sz="1500"/>
          </a:p>
        </p:txBody>
      </p:sp>
      <p:sp>
        <p:nvSpPr>
          <p:cNvPr id="115" name="Text 115"/>
          <p:cNvSpPr txBox="1"/>
          <p:nvPr/>
        </p:nvSpPr>
        <p:spPr>
          <a:xfrm>
            <a:off x="1600200" y="5486400"/>
            <a:ext cx="901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700" b="1">
                <a:solidFill>
                  <a:srgbClr val="191919"/>
                </a:solidFill>
                <a:latin typeface="Aptos"/>
              </a:rPr>
              <a:t>El carrito se conserva en el navegador y el pedido queda guardado en MySQL.</a:t>
            </a:r>
            <a:endParaRPr lang="es-ES" sz="1700"/>
          </a:p>
        </p:txBody>
      </p:sp>
      <p:sp>
        <p:nvSpPr>
          <p:cNvPr id="116" name="Shape 116"/>
          <p:cNvSpPr/>
          <p:nvPr/>
        </p:nvSpPr>
        <p:spPr>
          <a:xfrm>
            <a:off x="660400" y="6477000"/>
            <a:ext cx="10871200" cy="12700"/>
          </a:xfrm>
          <a:prstGeom prst="rect">
            <a:avLst/>
          </a:prstGeom>
          <a:solidFill>
            <a:srgbClr val="DECBA0"/>
          </a:solidFill>
          <a:ln>
            <a:noFill/>
          </a:ln>
        </p:spPr>
      </p:sp>
      <p:sp>
        <p:nvSpPr>
          <p:cNvPr id="117" name="Text 117"/>
          <p:cNvSpPr txBox="1"/>
          <p:nvPr/>
        </p:nvSpPr>
        <p:spPr>
          <a:xfrm>
            <a:off x="660400" y="6604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800" b="1">
                <a:solidFill>
                  <a:srgbClr val="766037"/>
                </a:solidFill>
                <a:latin typeface="Aptos"/>
              </a:rPr>
              <a:t>RoyalRent</a:t>
            </a:r>
            <a:endParaRPr lang="es-ES" sz="800"/>
          </a:p>
        </p:txBody>
      </p:sp>
      <p:sp>
        <p:nvSpPr>
          <p:cNvPr id="118" name="Text 118"/>
          <p:cNvSpPr txBox="1"/>
          <p:nvPr/>
        </p:nvSpPr>
        <p:spPr>
          <a:xfrm>
            <a:off x="10896600" y="6604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800">
                <a:solidFill>
                  <a:srgbClr val="766037"/>
                </a:solidFill>
                <a:latin typeface="Aptos"/>
              </a:rPr>
              <a:t>6 / 12</a:t>
            </a:r>
            <a:endParaRPr lang="es-E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120" name="Shape 1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8421F">
              <a:alpha val="28000"/>
            </a:srgbClr>
          </a:solidFill>
          <a:ln>
            <a:noFill/>
          </a:ln>
        </p:spPr>
      </p:sp>
      <p:sp>
        <p:nvSpPr>
          <p:cNvPr id="121" name="Text 121"/>
          <p:cNvSpPr txBox="1"/>
          <p:nvPr/>
        </p:nvSpPr>
        <p:spPr>
          <a:xfrm>
            <a:off x="660400" y="533400"/>
            <a:ext cx="7747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3000" b="1">
                <a:solidFill>
                  <a:srgbClr val="FFFFFF"/>
                </a:solidFill>
                <a:latin typeface="Aptos"/>
              </a:rPr>
              <a:t>Panel de administracion</a:t>
            </a:r>
            <a:endParaRPr lang="es-ES" sz="3000"/>
          </a:p>
        </p:txBody>
      </p:sp>
      <p:sp>
        <p:nvSpPr>
          <p:cNvPr id="122" name="Text 122"/>
          <p:cNvSpPr txBox="1"/>
          <p:nvPr/>
        </p:nvSpPr>
        <p:spPr>
          <a:xfrm>
            <a:off x="685800" y="1117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400" b="1">
                <a:solidFill>
                  <a:srgbClr val="EED08B"/>
                </a:solidFill>
                <a:latin typeface="Aptos"/>
              </a:rPr>
              <a:t>La parte interna de gestion</a:t>
            </a:r>
            <a:endParaRPr lang="es-ES" sz="1400"/>
          </a:p>
        </p:txBody>
      </p:sp>
      <p:sp>
        <p:nvSpPr>
          <p:cNvPr id="123" name="Shape 123"/>
          <p:cNvSpPr/>
          <p:nvPr/>
        </p:nvSpPr>
        <p:spPr>
          <a:xfrm>
            <a:off x="939800" y="2209800"/>
            <a:ext cx="2260600" cy="19812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124" name="Shape 124"/>
          <p:cNvSpPr/>
          <p:nvPr/>
        </p:nvSpPr>
        <p:spPr>
          <a:xfrm>
            <a:off x="1193800" y="2514600"/>
            <a:ext cx="584200" cy="584200"/>
          </a:xfrm>
          <a:prstGeom prst="roundRect">
            <a:avLst/>
          </a:prstGeom>
          <a:solidFill>
            <a:srgbClr val="4E79B5"/>
          </a:solidFill>
          <a:ln>
            <a:noFill/>
          </a:ln>
        </p:spPr>
      </p:sp>
      <p:sp>
        <p:nvSpPr>
          <p:cNvPr id="125" name="Text 125"/>
          <p:cNvSpPr txBox="1"/>
          <p:nvPr/>
        </p:nvSpPr>
        <p:spPr>
          <a:xfrm>
            <a:off x="1193800" y="32766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700" b="1">
                <a:solidFill>
                  <a:srgbClr val="191919"/>
                </a:solidFill>
                <a:latin typeface="Aptos"/>
              </a:rPr>
              <a:t>Usuarios</a:t>
            </a:r>
            <a:endParaRPr lang="es-ES" sz="1700"/>
          </a:p>
        </p:txBody>
      </p:sp>
      <p:sp>
        <p:nvSpPr>
          <p:cNvPr id="126" name="Text 126"/>
          <p:cNvSpPr txBox="1"/>
          <p:nvPr/>
        </p:nvSpPr>
        <p:spPr>
          <a:xfrm>
            <a:off x="1193800" y="3708400"/>
            <a:ext cx="1752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00">
                <a:solidFill>
                  <a:srgbClr val="554E44"/>
                </a:solidFill>
                <a:latin typeface="Aptos"/>
              </a:rPr>
              <a:t>Altas y roles</a:t>
            </a:r>
            <a:endParaRPr lang="es-ES" sz="1000"/>
          </a:p>
        </p:txBody>
      </p:sp>
      <p:sp>
        <p:nvSpPr>
          <p:cNvPr id="127" name="Shape 127"/>
          <p:cNvSpPr/>
          <p:nvPr/>
        </p:nvSpPr>
        <p:spPr>
          <a:xfrm>
            <a:off x="3606800" y="2209800"/>
            <a:ext cx="2260600" cy="19812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128" name="Shape 128"/>
          <p:cNvSpPr/>
          <p:nvPr/>
        </p:nvSpPr>
        <p:spPr>
          <a:xfrm>
            <a:off x="3860800" y="2514600"/>
            <a:ext cx="584200" cy="584200"/>
          </a:xfrm>
          <a:prstGeom prst="roundRect">
            <a:avLst/>
          </a:prstGeom>
          <a:solidFill>
            <a:srgbClr val="4E9762"/>
          </a:solidFill>
          <a:ln>
            <a:noFill/>
          </a:ln>
        </p:spPr>
      </p:sp>
      <p:sp>
        <p:nvSpPr>
          <p:cNvPr id="129" name="Text 129"/>
          <p:cNvSpPr txBox="1"/>
          <p:nvPr/>
        </p:nvSpPr>
        <p:spPr>
          <a:xfrm>
            <a:off x="3860800" y="32766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700" b="1">
                <a:solidFill>
                  <a:srgbClr val="191919"/>
                </a:solidFill>
                <a:latin typeface="Aptos"/>
              </a:rPr>
              <a:t>Pedidos</a:t>
            </a:r>
            <a:endParaRPr lang="es-ES" sz="1700"/>
          </a:p>
        </p:txBody>
      </p:sp>
      <p:sp>
        <p:nvSpPr>
          <p:cNvPr id="130" name="Text 130"/>
          <p:cNvSpPr txBox="1"/>
          <p:nvPr/>
        </p:nvSpPr>
        <p:spPr>
          <a:xfrm>
            <a:off x="3860800" y="3708400"/>
            <a:ext cx="1752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00">
                <a:solidFill>
                  <a:srgbClr val="554E44"/>
                </a:solidFill>
                <a:latin typeface="Aptos"/>
              </a:rPr>
              <a:t>Reservas y totales</a:t>
            </a:r>
            <a:endParaRPr lang="es-ES" sz="1000"/>
          </a:p>
        </p:txBody>
      </p:sp>
      <p:sp>
        <p:nvSpPr>
          <p:cNvPr id="131" name="Shape 131"/>
          <p:cNvSpPr/>
          <p:nvPr/>
        </p:nvSpPr>
        <p:spPr>
          <a:xfrm>
            <a:off x="6273800" y="2209800"/>
            <a:ext cx="2260600" cy="19812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132" name="Shape 132"/>
          <p:cNvSpPr/>
          <p:nvPr/>
        </p:nvSpPr>
        <p:spPr>
          <a:xfrm>
            <a:off x="6527800" y="2514600"/>
            <a:ext cx="584200" cy="584200"/>
          </a:xfrm>
          <a:prstGeom prst="round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133" name="Text 133"/>
          <p:cNvSpPr txBox="1"/>
          <p:nvPr/>
        </p:nvSpPr>
        <p:spPr>
          <a:xfrm>
            <a:off x="6527800" y="32766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700" b="1">
                <a:solidFill>
                  <a:srgbClr val="191919"/>
                </a:solidFill>
                <a:latin typeface="Aptos"/>
              </a:rPr>
              <a:t>Vehiculos</a:t>
            </a:r>
            <a:endParaRPr lang="es-ES" sz="1700"/>
          </a:p>
        </p:txBody>
      </p:sp>
      <p:sp>
        <p:nvSpPr>
          <p:cNvPr id="134" name="Text 134"/>
          <p:cNvSpPr txBox="1"/>
          <p:nvPr/>
        </p:nvSpPr>
        <p:spPr>
          <a:xfrm>
            <a:off x="6527800" y="3708400"/>
            <a:ext cx="1752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00">
                <a:solidFill>
                  <a:srgbClr val="554E44"/>
                </a:solidFill>
                <a:latin typeface="Aptos"/>
              </a:rPr>
              <a:t>Catalogo y disponibilidad</a:t>
            </a:r>
            <a:endParaRPr lang="es-ES" sz="1000"/>
          </a:p>
        </p:txBody>
      </p:sp>
      <p:sp>
        <p:nvSpPr>
          <p:cNvPr id="135" name="Shape 135"/>
          <p:cNvSpPr/>
          <p:nvPr/>
        </p:nvSpPr>
        <p:spPr>
          <a:xfrm>
            <a:off x="8940800" y="2209800"/>
            <a:ext cx="2260600" cy="19812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136" name="Shape 136"/>
          <p:cNvSpPr/>
          <p:nvPr/>
        </p:nvSpPr>
        <p:spPr>
          <a:xfrm>
            <a:off x="9194800" y="2514600"/>
            <a:ext cx="584200" cy="584200"/>
          </a:xfrm>
          <a:prstGeom prst="roundRect">
            <a:avLst/>
          </a:prstGeom>
          <a:solidFill>
            <a:srgbClr val="BC453F"/>
          </a:solidFill>
          <a:ln>
            <a:noFill/>
          </a:ln>
        </p:spPr>
      </p:sp>
      <p:sp>
        <p:nvSpPr>
          <p:cNvPr id="137" name="Text 137"/>
          <p:cNvSpPr txBox="1"/>
          <p:nvPr/>
        </p:nvSpPr>
        <p:spPr>
          <a:xfrm>
            <a:off x="9194800" y="32766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700" b="1">
                <a:solidFill>
                  <a:srgbClr val="191919"/>
                </a:solidFill>
                <a:latin typeface="Aptos"/>
              </a:rPr>
              <a:t>Mensajes</a:t>
            </a:r>
            <a:endParaRPr lang="es-ES" sz="1700"/>
          </a:p>
        </p:txBody>
      </p:sp>
      <p:sp>
        <p:nvSpPr>
          <p:cNvPr id="138" name="Text 138"/>
          <p:cNvSpPr txBox="1"/>
          <p:nvPr/>
        </p:nvSpPr>
        <p:spPr>
          <a:xfrm>
            <a:off x="9194800" y="3708400"/>
            <a:ext cx="1752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00">
                <a:solidFill>
                  <a:srgbClr val="554E44"/>
                </a:solidFill>
                <a:latin typeface="Aptos"/>
              </a:rPr>
              <a:t>Contacto de clientes</a:t>
            </a:r>
            <a:endParaRPr lang="es-ES" sz="1000"/>
          </a:p>
        </p:txBody>
      </p:sp>
      <p:sp>
        <p:nvSpPr>
          <p:cNvPr id="139" name="Text 139"/>
          <p:cNvSpPr txBox="1"/>
          <p:nvPr/>
        </p:nvSpPr>
        <p:spPr>
          <a:xfrm>
            <a:off x="1828800" y="5029200"/>
            <a:ext cx="863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2000" b="1">
                <a:solidFill>
                  <a:srgbClr val="FFF8EB"/>
                </a:solidFill>
                <a:latin typeface="Aptos"/>
              </a:rPr>
              <a:t>El rol admin esta protegido: solo entra quien tenga permisos.</a:t>
            </a:r>
            <a:endParaRPr lang="es-E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</p:sp>
      <p:sp>
        <p:nvSpPr>
          <p:cNvPr id="141" name="Text 141"/>
          <p:cNvSpPr txBox="1"/>
          <p:nvPr/>
        </p:nvSpPr>
        <p:spPr>
          <a:xfrm>
            <a:off x="660400" y="5080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2800" b="1">
                <a:solidFill>
                  <a:srgbClr val="191919"/>
                </a:solidFill>
                <a:latin typeface="Aptos"/>
              </a:rPr>
              <a:t>Arquitectura</a:t>
            </a:r>
            <a:endParaRPr lang="es-ES" sz="2800"/>
          </a:p>
        </p:txBody>
      </p:sp>
      <p:sp>
        <p:nvSpPr>
          <p:cNvPr id="142" name="Text 142"/>
          <p:cNvSpPr txBox="1"/>
          <p:nvPr/>
        </p:nvSpPr>
        <p:spPr>
          <a:xfrm>
            <a:off x="685800" y="11176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200">
                <a:solidFill>
                  <a:srgbClr val="5C5241"/>
                </a:solidFill>
                <a:latin typeface="Aptos"/>
              </a:rPr>
              <a:t>Separacion clara entre interfaz, logica y datos.</a:t>
            </a:r>
            <a:endParaRPr lang="es-ES" sz="1200"/>
          </a:p>
        </p:txBody>
      </p:sp>
      <p:sp>
        <p:nvSpPr>
          <p:cNvPr id="143" name="Shape 143"/>
          <p:cNvSpPr/>
          <p:nvPr/>
        </p:nvSpPr>
        <p:spPr>
          <a:xfrm>
            <a:off x="1016000" y="2349500"/>
            <a:ext cx="26670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CCA0"/>
            </a:solidFill>
          </a:ln>
        </p:spPr>
      </p:sp>
      <p:sp>
        <p:nvSpPr>
          <p:cNvPr id="144" name="Shape 144"/>
          <p:cNvSpPr/>
          <p:nvPr/>
        </p:nvSpPr>
        <p:spPr>
          <a:xfrm>
            <a:off x="4762500" y="2349500"/>
            <a:ext cx="26670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CCA0"/>
            </a:solidFill>
          </a:ln>
        </p:spPr>
      </p:sp>
      <p:sp>
        <p:nvSpPr>
          <p:cNvPr id="145" name="Shape 145"/>
          <p:cNvSpPr/>
          <p:nvPr/>
        </p:nvSpPr>
        <p:spPr>
          <a:xfrm>
            <a:off x="8509000" y="2349500"/>
            <a:ext cx="26670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CCA0"/>
            </a:solidFill>
          </a:ln>
        </p:spPr>
      </p:sp>
      <p:sp>
        <p:nvSpPr>
          <p:cNvPr id="146" name="Text 146"/>
          <p:cNvSpPr txBox="1"/>
          <p:nvPr/>
        </p:nvSpPr>
        <p:spPr>
          <a:xfrm>
            <a:off x="1397000" y="279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2400" b="1">
                <a:solidFill>
                  <a:srgbClr val="191919"/>
                </a:solidFill>
                <a:latin typeface="Aptos"/>
              </a:rPr>
              <a:t>React</a:t>
            </a:r>
            <a:endParaRPr lang="es-ES" sz="2400"/>
          </a:p>
        </p:txBody>
      </p:sp>
      <p:sp>
        <p:nvSpPr>
          <p:cNvPr id="147" name="Text 147"/>
          <p:cNvSpPr txBox="1"/>
          <p:nvPr/>
        </p:nvSpPr>
        <p:spPr>
          <a:xfrm>
            <a:off x="1397000" y="32766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100">
                <a:solidFill>
                  <a:srgbClr val="5B5345"/>
                </a:solidFill>
                <a:latin typeface="Aptos"/>
              </a:rPr>
              <a:t>SPA + componentes</a:t>
            </a:r>
            <a:endParaRPr lang="es-ES" sz="1100"/>
          </a:p>
        </p:txBody>
      </p:sp>
      <p:sp>
        <p:nvSpPr>
          <p:cNvPr id="148" name="Text 148"/>
          <p:cNvSpPr txBox="1"/>
          <p:nvPr/>
        </p:nvSpPr>
        <p:spPr>
          <a:xfrm>
            <a:off x="5029200" y="2794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2400" b="1">
                <a:solidFill>
                  <a:srgbClr val="191919"/>
                </a:solidFill>
                <a:latin typeface="Aptos"/>
              </a:rPr>
              <a:t>Express API</a:t>
            </a:r>
            <a:endParaRPr lang="es-ES" sz="2400"/>
          </a:p>
        </p:txBody>
      </p:sp>
      <p:sp>
        <p:nvSpPr>
          <p:cNvPr id="149" name="Text 149"/>
          <p:cNvSpPr txBox="1"/>
          <p:nvPr/>
        </p:nvSpPr>
        <p:spPr>
          <a:xfrm>
            <a:off x="5143500" y="32766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100">
                <a:solidFill>
                  <a:srgbClr val="5B5345"/>
                </a:solidFill>
                <a:latin typeface="Aptos"/>
              </a:rPr>
              <a:t>Endpoints REST</a:t>
            </a:r>
            <a:endParaRPr lang="es-ES" sz="1100"/>
          </a:p>
        </p:txBody>
      </p:sp>
      <p:sp>
        <p:nvSpPr>
          <p:cNvPr id="150" name="Text 150"/>
          <p:cNvSpPr txBox="1"/>
          <p:nvPr/>
        </p:nvSpPr>
        <p:spPr>
          <a:xfrm>
            <a:off x="8890000" y="279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2400" b="1">
                <a:solidFill>
                  <a:srgbClr val="191919"/>
                </a:solidFill>
                <a:latin typeface="Aptos"/>
              </a:rPr>
              <a:t>MySQL</a:t>
            </a:r>
            <a:endParaRPr lang="es-ES" sz="2400"/>
          </a:p>
        </p:txBody>
      </p:sp>
      <p:sp>
        <p:nvSpPr>
          <p:cNvPr id="151" name="Text 151"/>
          <p:cNvSpPr txBox="1"/>
          <p:nvPr/>
        </p:nvSpPr>
        <p:spPr>
          <a:xfrm>
            <a:off x="8890000" y="32766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100">
                <a:solidFill>
                  <a:srgbClr val="5B5345"/>
                </a:solidFill>
                <a:latin typeface="Aptos"/>
              </a:rPr>
              <a:t>Datos relacionales</a:t>
            </a:r>
            <a:endParaRPr lang="es-ES" sz="1100"/>
          </a:p>
        </p:txBody>
      </p:sp>
      <p:sp>
        <p:nvSpPr>
          <p:cNvPr id="152" name="Text 152"/>
          <p:cNvSpPr txBox="1"/>
          <p:nvPr/>
        </p:nvSpPr>
        <p:spPr>
          <a:xfrm>
            <a:off x="3987800" y="28702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3000" b="1">
                <a:solidFill>
                  <a:srgbClr val="D2AA5C"/>
                </a:solidFill>
                <a:latin typeface="Aptos"/>
              </a:rPr>
              <a:t>&gt;</a:t>
            </a:r>
            <a:endParaRPr lang="es-ES" sz="3000"/>
          </a:p>
        </p:txBody>
      </p:sp>
      <p:sp>
        <p:nvSpPr>
          <p:cNvPr id="153" name="Text 153"/>
          <p:cNvSpPr txBox="1"/>
          <p:nvPr/>
        </p:nvSpPr>
        <p:spPr>
          <a:xfrm>
            <a:off x="7734300" y="28702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3000" b="1">
                <a:solidFill>
                  <a:srgbClr val="D2AA5C"/>
                </a:solidFill>
                <a:latin typeface="Aptos"/>
              </a:rPr>
              <a:t>&gt;</a:t>
            </a:r>
            <a:endParaRPr lang="es-ES" sz="3000"/>
          </a:p>
        </p:txBody>
      </p:sp>
      <p:sp>
        <p:nvSpPr>
          <p:cNvPr id="154" name="Shape 154"/>
          <p:cNvSpPr/>
          <p:nvPr/>
        </p:nvSpPr>
        <p:spPr>
          <a:xfrm>
            <a:off x="1803400" y="4699000"/>
            <a:ext cx="1270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155" name="Text 155"/>
          <p:cNvSpPr txBox="1"/>
          <p:nvPr/>
        </p:nvSpPr>
        <p:spPr>
          <a:xfrm>
            <a:off x="1879600" y="4800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Axios</a:t>
            </a:r>
            <a:endParaRPr lang="es-ES" sz="900"/>
          </a:p>
        </p:txBody>
      </p:sp>
      <p:sp>
        <p:nvSpPr>
          <p:cNvPr id="156" name="Shape 156"/>
          <p:cNvSpPr/>
          <p:nvPr/>
        </p:nvSpPr>
        <p:spPr>
          <a:xfrm>
            <a:off x="4089400" y="4699000"/>
            <a:ext cx="1270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157" name="Text 157"/>
          <p:cNvSpPr txBox="1"/>
          <p:nvPr/>
        </p:nvSpPr>
        <p:spPr>
          <a:xfrm>
            <a:off x="4165600" y="4800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JWT</a:t>
            </a:r>
            <a:endParaRPr lang="es-ES" sz="900"/>
          </a:p>
        </p:txBody>
      </p:sp>
      <p:sp>
        <p:nvSpPr>
          <p:cNvPr id="158" name="Shape 158"/>
          <p:cNvSpPr/>
          <p:nvPr/>
        </p:nvSpPr>
        <p:spPr>
          <a:xfrm>
            <a:off x="6375400" y="4699000"/>
            <a:ext cx="1270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159" name="Text 159"/>
          <p:cNvSpPr txBox="1"/>
          <p:nvPr/>
        </p:nvSpPr>
        <p:spPr>
          <a:xfrm>
            <a:off x="6451600" y="4800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bcrypt</a:t>
            </a:r>
            <a:endParaRPr lang="es-ES" sz="900"/>
          </a:p>
        </p:txBody>
      </p:sp>
      <p:sp>
        <p:nvSpPr>
          <p:cNvPr id="160" name="Shape 160"/>
          <p:cNvSpPr/>
          <p:nvPr/>
        </p:nvSpPr>
        <p:spPr>
          <a:xfrm>
            <a:off x="8661400" y="4699000"/>
            <a:ext cx="1651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161" name="Text 161"/>
          <p:cNvSpPr txBox="1"/>
          <p:nvPr/>
        </p:nvSpPr>
        <p:spPr>
          <a:xfrm>
            <a:off x="8737600" y="4800600"/>
            <a:ext cx="1498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Transacciones</a:t>
            </a:r>
            <a:endParaRPr lang="es-ES" sz="900"/>
          </a:p>
        </p:txBody>
      </p:sp>
      <p:sp>
        <p:nvSpPr>
          <p:cNvPr id="162" name="Shape 162"/>
          <p:cNvSpPr/>
          <p:nvPr/>
        </p:nvSpPr>
        <p:spPr>
          <a:xfrm>
            <a:off x="660400" y="6477000"/>
            <a:ext cx="10871200" cy="12700"/>
          </a:xfrm>
          <a:prstGeom prst="rect">
            <a:avLst/>
          </a:prstGeom>
          <a:solidFill>
            <a:srgbClr val="DECBA0"/>
          </a:solidFill>
          <a:ln>
            <a:noFill/>
          </a:ln>
        </p:spPr>
      </p:sp>
      <p:sp>
        <p:nvSpPr>
          <p:cNvPr id="163" name="Text 163"/>
          <p:cNvSpPr txBox="1"/>
          <p:nvPr/>
        </p:nvSpPr>
        <p:spPr>
          <a:xfrm>
            <a:off x="660400" y="6604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800" b="1">
                <a:solidFill>
                  <a:srgbClr val="766037"/>
                </a:solidFill>
                <a:latin typeface="Aptos"/>
              </a:rPr>
              <a:t>RoyalRent</a:t>
            </a:r>
            <a:endParaRPr lang="es-ES" sz="800"/>
          </a:p>
        </p:txBody>
      </p:sp>
      <p:sp>
        <p:nvSpPr>
          <p:cNvPr id="164" name="Text 164"/>
          <p:cNvSpPr txBox="1"/>
          <p:nvPr/>
        </p:nvSpPr>
        <p:spPr>
          <a:xfrm>
            <a:off x="10896600" y="6604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800">
                <a:solidFill>
                  <a:srgbClr val="766037"/>
                </a:solidFill>
                <a:latin typeface="Aptos"/>
              </a:rPr>
              <a:t>8 / 12</a:t>
            </a:r>
            <a:endParaRPr lang="es-E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166" name="Text 166"/>
          <p:cNvSpPr txBox="1"/>
          <p:nvPr/>
        </p:nvSpPr>
        <p:spPr>
          <a:xfrm>
            <a:off x="660400" y="5080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2800" b="1">
                <a:solidFill>
                  <a:srgbClr val="191919"/>
                </a:solidFill>
                <a:latin typeface="Aptos"/>
              </a:rPr>
              <a:t>Seguridad y datos</a:t>
            </a:r>
            <a:endParaRPr lang="es-ES" sz="2800"/>
          </a:p>
        </p:txBody>
      </p:sp>
      <p:sp>
        <p:nvSpPr>
          <p:cNvPr id="167" name="Text 167"/>
          <p:cNvSpPr txBox="1"/>
          <p:nvPr/>
        </p:nvSpPr>
        <p:spPr>
          <a:xfrm>
            <a:off x="685800" y="11176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200">
                <a:solidFill>
                  <a:srgbClr val="5C5241"/>
                </a:solidFill>
                <a:latin typeface="Aptos"/>
              </a:rPr>
              <a:t>Puntos tecnicos que conviene defender.</a:t>
            </a:r>
            <a:endParaRPr lang="es-ES" sz="1200"/>
          </a:p>
        </p:txBody>
      </p:sp>
      <p:sp>
        <p:nvSpPr>
          <p:cNvPr id="168" name="Shape 168"/>
          <p:cNvSpPr/>
          <p:nvPr/>
        </p:nvSpPr>
        <p:spPr>
          <a:xfrm>
            <a:off x="812800" y="1841500"/>
            <a:ext cx="3175000" cy="1651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169" name="Shape 169"/>
          <p:cNvSpPr/>
          <p:nvPr/>
        </p:nvSpPr>
        <p:spPr>
          <a:xfrm>
            <a:off x="812800" y="1841500"/>
            <a:ext cx="76200" cy="1651000"/>
          </a:xfrm>
          <a:prstGeom prst="rect">
            <a:avLst/>
          </a:prstGeom>
          <a:solidFill>
            <a:srgbClr val="4E79B5"/>
          </a:solidFill>
          <a:ln>
            <a:noFill/>
          </a:ln>
        </p:spPr>
      </p:sp>
      <p:sp>
        <p:nvSpPr>
          <p:cNvPr id="170" name="Text 170"/>
          <p:cNvSpPr txBox="1"/>
          <p:nvPr/>
        </p:nvSpPr>
        <p:spPr>
          <a:xfrm>
            <a:off x="1041400" y="20193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JWT</a:t>
            </a:r>
            <a:endParaRPr lang="es-ES" sz="1500"/>
          </a:p>
        </p:txBody>
      </p:sp>
      <p:sp>
        <p:nvSpPr>
          <p:cNvPr id="171" name="Text 171"/>
          <p:cNvSpPr txBox="1"/>
          <p:nvPr/>
        </p:nvSpPr>
        <p:spPr>
          <a:xfrm>
            <a:off x="1041400" y="2400300"/>
            <a:ext cx="2794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Token para proteger perfil, historial y admin.</a:t>
            </a:r>
            <a:endParaRPr lang="es-ES" sz="1050"/>
          </a:p>
        </p:txBody>
      </p:sp>
      <p:sp>
        <p:nvSpPr>
          <p:cNvPr id="172" name="Shape 172"/>
          <p:cNvSpPr/>
          <p:nvPr/>
        </p:nvSpPr>
        <p:spPr>
          <a:xfrm>
            <a:off x="4508500" y="1841500"/>
            <a:ext cx="3175000" cy="1651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173" name="Shape 173"/>
          <p:cNvSpPr/>
          <p:nvPr/>
        </p:nvSpPr>
        <p:spPr>
          <a:xfrm>
            <a:off x="4508500" y="1841500"/>
            <a:ext cx="76200" cy="1651000"/>
          </a:xfrm>
          <a:prstGeom prst="rect">
            <a:avLst/>
          </a:prstGeom>
          <a:solidFill>
            <a:srgbClr val="BC453F"/>
          </a:solidFill>
          <a:ln>
            <a:noFill/>
          </a:ln>
        </p:spPr>
      </p:sp>
      <p:sp>
        <p:nvSpPr>
          <p:cNvPr id="174" name="Text 174"/>
          <p:cNvSpPr txBox="1"/>
          <p:nvPr/>
        </p:nvSpPr>
        <p:spPr>
          <a:xfrm>
            <a:off x="4737100" y="20193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bcrypt</a:t>
            </a:r>
            <a:endParaRPr lang="es-ES" sz="1500"/>
          </a:p>
        </p:txBody>
      </p:sp>
      <p:sp>
        <p:nvSpPr>
          <p:cNvPr id="175" name="Text 175"/>
          <p:cNvSpPr txBox="1"/>
          <p:nvPr/>
        </p:nvSpPr>
        <p:spPr>
          <a:xfrm>
            <a:off x="4737100" y="2400300"/>
            <a:ext cx="2794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Las contrasenas no se guardan en texto plano.</a:t>
            </a:r>
            <a:endParaRPr lang="es-ES" sz="1050"/>
          </a:p>
        </p:txBody>
      </p:sp>
      <p:sp>
        <p:nvSpPr>
          <p:cNvPr id="176" name="Shape 176"/>
          <p:cNvSpPr/>
          <p:nvPr/>
        </p:nvSpPr>
        <p:spPr>
          <a:xfrm>
            <a:off x="8204200" y="1841500"/>
            <a:ext cx="3175000" cy="1651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177" name="Shape 177"/>
          <p:cNvSpPr/>
          <p:nvPr/>
        </p:nvSpPr>
        <p:spPr>
          <a:xfrm>
            <a:off x="8204200" y="1841500"/>
            <a:ext cx="76200" cy="1651000"/>
          </a:xfrm>
          <a:prstGeom prst="rect">
            <a:avLst/>
          </a:prstGeom>
          <a:solidFill>
            <a:srgbClr val="4E9762"/>
          </a:solidFill>
          <a:ln>
            <a:noFill/>
          </a:ln>
        </p:spPr>
      </p:sp>
      <p:sp>
        <p:nvSpPr>
          <p:cNvPr id="178" name="Text 178"/>
          <p:cNvSpPr txBox="1"/>
          <p:nvPr/>
        </p:nvSpPr>
        <p:spPr>
          <a:xfrm>
            <a:off x="8432800" y="20193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Roles</a:t>
            </a:r>
            <a:endParaRPr lang="es-ES" sz="1500"/>
          </a:p>
        </p:txBody>
      </p:sp>
      <p:sp>
        <p:nvSpPr>
          <p:cNvPr id="179" name="Text 179"/>
          <p:cNvSpPr txBox="1"/>
          <p:nvPr/>
        </p:nvSpPr>
        <p:spPr>
          <a:xfrm>
            <a:off x="8432800" y="2400300"/>
            <a:ext cx="2794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Usuario normal y administrador con rutas separadas.</a:t>
            </a:r>
            <a:endParaRPr lang="es-ES" sz="1050"/>
          </a:p>
        </p:txBody>
      </p:sp>
      <p:sp>
        <p:nvSpPr>
          <p:cNvPr id="180" name="Shape 180"/>
          <p:cNvSpPr/>
          <p:nvPr/>
        </p:nvSpPr>
        <p:spPr>
          <a:xfrm>
            <a:off x="2667000" y="4089400"/>
            <a:ext cx="3175000" cy="14224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181" name="Shape 181"/>
          <p:cNvSpPr/>
          <p:nvPr/>
        </p:nvSpPr>
        <p:spPr>
          <a:xfrm>
            <a:off x="2667000" y="4089400"/>
            <a:ext cx="76200" cy="1422400"/>
          </a:xfrm>
          <a:prstGeom prst="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182" name="Text 182"/>
          <p:cNvSpPr txBox="1"/>
          <p:nvPr/>
        </p:nvSpPr>
        <p:spPr>
          <a:xfrm>
            <a:off x="2895600" y="4267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MySQL</a:t>
            </a:r>
            <a:endParaRPr lang="es-ES" sz="1500"/>
          </a:p>
        </p:txBody>
      </p:sp>
      <p:sp>
        <p:nvSpPr>
          <p:cNvPr id="183" name="Text 183"/>
          <p:cNvSpPr txBox="1"/>
          <p:nvPr/>
        </p:nvSpPr>
        <p:spPr>
          <a:xfrm>
            <a:off x="2895600" y="4648200"/>
            <a:ext cx="279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users, items, orders, order_items, messages.</a:t>
            </a:r>
            <a:endParaRPr lang="es-ES" sz="1050"/>
          </a:p>
        </p:txBody>
      </p:sp>
      <p:sp>
        <p:nvSpPr>
          <p:cNvPr id="184" name="Shape 184"/>
          <p:cNvSpPr/>
          <p:nvPr/>
        </p:nvSpPr>
        <p:spPr>
          <a:xfrm>
            <a:off x="6350000" y="4089400"/>
            <a:ext cx="3175000" cy="14224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185" name="Shape 185"/>
          <p:cNvSpPr/>
          <p:nvPr/>
        </p:nvSpPr>
        <p:spPr>
          <a:xfrm>
            <a:off x="6350000" y="4089400"/>
            <a:ext cx="76200" cy="1422400"/>
          </a:xfrm>
          <a:prstGeom prst="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186" name="Text 186"/>
          <p:cNvSpPr txBox="1"/>
          <p:nvPr/>
        </p:nvSpPr>
        <p:spPr>
          <a:xfrm>
            <a:off x="6578600" y="4267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Transacciones</a:t>
            </a:r>
            <a:endParaRPr lang="es-ES" sz="1500"/>
          </a:p>
        </p:txBody>
      </p:sp>
      <p:sp>
        <p:nvSpPr>
          <p:cNvPr id="187" name="Text 187"/>
          <p:cNvSpPr txBox="1"/>
          <p:nvPr/>
        </p:nvSpPr>
        <p:spPr>
          <a:xfrm>
            <a:off x="6578600" y="4648200"/>
            <a:ext cx="279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Evitan pedidos incompletos si algo falla.</a:t>
            </a:r>
            <a:endParaRPr lang="es-ES" sz="1050"/>
          </a:p>
        </p:txBody>
      </p:sp>
      <p:sp>
        <p:nvSpPr>
          <p:cNvPr id="188" name="Shape 188"/>
          <p:cNvSpPr/>
          <p:nvPr/>
        </p:nvSpPr>
        <p:spPr>
          <a:xfrm>
            <a:off x="660400" y="6477000"/>
            <a:ext cx="10871200" cy="12700"/>
          </a:xfrm>
          <a:prstGeom prst="rect">
            <a:avLst/>
          </a:prstGeom>
          <a:solidFill>
            <a:srgbClr val="DECBA0"/>
          </a:solidFill>
          <a:ln>
            <a:noFill/>
          </a:ln>
        </p:spPr>
      </p:sp>
      <p:sp>
        <p:nvSpPr>
          <p:cNvPr id="189" name="Text 189"/>
          <p:cNvSpPr txBox="1"/>
          <p:nvPr/>
        </p:nvSpPr>
        <p:spPr>
          <a:xfrm>
            <a:off x="660400" y="6604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800" b="1">
                <a:solidFill>
                  <a:srgbClr val="766037"/>
                </a:solidFill>
                <a:latin typeface="Aptos"/>
              </a:rPr>
              <a:t>RoyalRent</a:t>
            </a:r>
            <a:endParaRPr lang="es-ES" sz="800"/>
          </a:p>
        </p:txBody>
      </p:sp>
      <p:sp>
        <p:nvSpPr>
          <p:cNvPr id="190" name="Text 190"/>
          <p:cNvSpPr txBox="1"/>
          <p:nvPr/>
        </p:nvSpPr>
        <p:spPr>
          <a:xfrm>
            <a:off x="10896600" y="6604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800">
                <a:solidFill>
                  <a:srgbClr val="766037"/>
                </a:solidFill>
                <a:latin typeface="Aptos"/>
              </a:rPr>
              <a:t>9 / 12</a:t>
            </a:r>
            <a:endParaRPr lang="es-E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192" name="Shape 1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8421F">
              <a:alpha val="28000"/>
            </a:srgbClr>
          </a:solidFill>
          <a:ln>
            <a:noFill/>
          </a:ln>
        </p:spPr>
      </p:sp>
      <p:sp>
        <p:nvSpPr>
          <p:cNvPr id="193" name="Text 193"/>
          <p:cNvSpPr txBox="1"/>
          <p:nvPr/>
        </p:nvSpPr>
        <p:spPr>
          <a:xfrm>
            <a:off x="660400" y="533400"/>
            <a:ext cx="5080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3000" b="1">
                <a:solidFill>
                  <a:srgbClr val="FFFFFF"/>
                </a:solidFill>
                <a:latin typeface="Aptos"/>
              </a:rPr>
              <a:t>Demo guiada</a:t>
            </a:r>
            <a:endParaRPr lang="es-ES" sz="3000"/>
          </a:p>
        </p:txBody>
      </p:sp>
      <p:sp>
        <p:nvSpPr>
          <p:cNvPr id="194" name="Text 194"/>
          <p:cNvSpPr txBox="1"/>
          <p:nvPr/>
        </p:nvSpPr>
        <p:spPr>
          <a:xfrm>
            <a:off x="685800" y="1117600"/>
            <a:ext cx="520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400" b="1">
                <a:solidFill>
                  <a:srgbClr val="EED08B"/>
                </a:solidFill>
                <a:latin typeface="Aptos"/>
              </a:rPr>
              <a:t>Orden recomendado para no perderse</a:t>
            </a:r>
            <a:endParaRPr lang="es-ES" sz="1400"/>
          </a:p>
        </p:txBody>
      </p:sp>
      <p:sp>
        <p:nvSpPr>
          <p:cNvPr id="195" name="Shape 195"/>
          <p:cNvSpPr/>
          <p:nvPr/>
        </p:nvSpPr>
        <p:spPr>
          <a:xfrm>
            <a:off x="1397000" y="1905000"/>
            <a:ext cx="9398000" cy="609600"/>
          </a:xfrm>
          <a:prstGeom prst="roundRect">
            <a:avLst/>
          </a:prstGeom>
          <a:solidFill>
            <a:srgbClr val="FFFCF5">
              <a:alpha val="98000"/>
            </a:srgbClr>
          </a:solidFill>
          <a:ln w="12700">
            <a:solidFill>
              <a:srgbClr val="E0CCA0"/>
            </a:solidFill>
          </a:ln>
        </p:spPr>
      </p:sp>
      <p:sp>
        <p:nvSpPr>
          <p:cNvPr id="196" name="Text 196"/>
          <p:cNvSpPr txBox="1"/>
          <p:nvPr/>
        </p:nvSpPr>
        <p:spPr>
          <a:xfrm>
            <a:off x="1778000" y="2057400"/>
            <a:ext cx="863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600" b="1">
                <a:solidFill>
                  <a:srgbClr val="191919"/>
                </a:solidFill>
                <a:latin typeface="Aptos"/>
              </a:rPr>
              <a:t>1. Home y servicios</a:t>
            </a:r>
            <a:endParaRPr lang="es-ES" sz="1600"/>
          </a:p>
        </p:txBody>
      </p:sp>
      <p:sp>
        <p:nvSpPr>
          <p:cNvPr id="197" name="Shape 197"/>
          <p:cNvSpPr/>
          <p:nvPr/>
        </p:nvSpPr>
        <p:spPr>
          <a:xfrm>
            <a:off x="1397000" y="2717800"/>
            <a:ext cx="9398000" cy="609600"/>
          </a:xfrm>
          <a:prstGeom prst="roundRect">
            <a:avLst/>
          </a:prstGeom>
          <a:solidFill>
            <a:srgbClr val="FFFCF5">
              <a:alpha val="98000"/>
            </a:srgbClr>
          </a:solidFill>
          <a:ln w="12700">
            <a:solidFill>
              <a:srgbClr val="E0CCA0"/>
            </a:solidFill>
          </a:ln>
        </p:spPr>
      </p:sp>
      <p:sp>
        <p:nvSpPr>
          <p:cNvPr id="198" name="Text 198"/>
          <p:cNvSpPr txBox="1"/>
          <p:nvPr/>
        </p:nvSpPr>
        <p:spPr>
          <a:xfrm>
            <a:off x="1778000" y="2870200"/>
            <a:ext cx="863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600" b="1">
                <a:solidFill>
                  <a:srgbClr val="191919"/>
                </a:solidFill>
                <a:latin typeface="Aptos"/>
              </a:rPr>
              <a:t>2. Catalogo + filtro</a:t>
            </a:r>
            <a:endParaRPr lang="es-ES" sz="1600"/>
          </a:p>
        </p:txBody>
      </p:sp>
      <p:sp>
        <p:nvSpPr>
          <p:cNvPr id="199" name="Shape 199"/>
          <p:cNvSpPr/>
          <p:nvPr/>
        </p:nvSpPr>
        <p:spPr>
          <a:xfrm>
            <a:off x="1397000" y="3530600"/>
            <a:ext cx="9398000" cy="609600"/>
          </a:xfrm>
          <a:prstGeom prst="roundRect">
            <a:avLst/>
          </a:prstGeom>
          <a:solidFill>
            <a:srgbClr val="FFFCF5">
              <a:alpha val="98000"/>
            </a:srgbClr>
          </a:solidFill>
          <a:ln w="12700">
            <a:solidFill>
              <a:srgbClr val="E0CCA0"/>
            </a:solidFill>
          </a:ln>
        </p:spPr>
      </p:sp>
      <p:sp>
        <p:nvSpPr>
          <p:cNvPr id="200" name="Text 200"/>
          <p:cNvSpPr txBox="1"/>
          <p:nvPr/>
        </p:nvSpPr>
        <p:spPr>
          <a:xfrm>
            <a:off x="1778000" y="3683000"/>
            <a:ext cx="863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600" b="1">
                <a:solidFill>
                  <a:srgbClr val="191919"/>
                </a:solidFill>
                <a:latin typeface="Aptos"/>
              </a:rPr>
              <a:t>3. Ficha + calendario</a:t>
            </a:r>
            <a:endParaRPr lang="es-ES" sz="1600"/>
          </a:p>
        </p:txBody>
      </p:sp>
      <p:sp>
        <p:nvSpPr>
          <p:cNvPr id="201" name="Shape 201"/>
          <p:cNvSpPr/>
          <p:nvPr/>
        </p:nvSpPr>
        <p:spPr>
          <a:xfrm>
            <a:off x="1397000" y="4343400"/>
            <a:ext cx="9398000" cy="609600"/>
          </a:xfrm>
          <a:prstGeom prst="roundRect">
            <a:avLst/>
          </a:prstGeom>
          <a:solidFill>
            <a:srgbClr val="FFFCF5">
              <a:alpha val="98000"/>
            </a:srgbClr>
          </a:solidFill>
          <a:ln w="12700">
            <a:solidFill>
              <a:srgbClr val="E0CCA0"/>
            </a:solidFill>
          </a:ln>
        </p:spPr>
      </p:sp>
      <p:sp>
        <p:nvSpPr>
          <p:cNvPr id="202" name="Text 202"/>
          <p:cNvSpPr txBox="1"/>
          <p:nvPr/>
        </p:nvSpPr>
        <p:spPr>
          <a:xfrm>
            <a:off x="1778000" y="4495800"/>
            <a:ext cx="863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600" b="1">
                <a:solidFill>
                  <a:srgbClr val="191919"/>
                </a:solidFill>
                <a:latin typeface="Aptos"/>
              </a:rPr>
              <a:t>4. Carrito + pago</a:t>
            </a:r>
            <a:endParaRPr lang="es-ES" sz="1600"/>
          </a:p>
        </p:txBody>
      </p:sp>
      <p:sp>
        <p:nvSpPr>
          <p:cNvPr id="203" name="Shape 203"/>
          <p:cNvSpPr/>
          <p:nvPr/>
        </p:nvSpPr>
        <p:spPr>
          <a:xfrm>
            <a:off x="1397000" y="5156200"/>
            <a:ext cx="9398000" cy="609600"/>
          </a:xfrm>
          <a:prstGeom prst="roundRect">
            <a:avLst/>
          </a:prstGeom>
          <a:solidFill>
            <a:srgbClr val="FFFCF5">
              <a:alpha val="98000"/>
            </a:srgbClr>
          </a:solidFill>
          <a:ln w="12700">
            <a:solidFill>
              <a:srgbClr val="E0CCA0"/>
            </a:solidFill>
          </a:ln>
        </p:spPr>
      </p:sp>
      <p:sp>
        <p:nvSpPr>
          <p:cNvPr id="204" name="Text 204"/>
          <p:cNvSpPr txBox="1"/>
          <p:nvPr/>
        </p:nvSpPr>
        <p:spPr>
          <a:xfrm>
            <a:off x="1778000" y="5308600"/>
            <a:ext cx="863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600" b="1">
                <a:solidFill>
                  <a:srgbClr val="191919"/>
                </a:solidFill>
                <a:latin typeface="Aptos"/>
              </a:rPr>
              <a:t>5. Perfil y admin</a:t>
            </a:r>
            <a:endParaRPr lang="es-ES" sz="1600"/>
          </a:p>
        </p:txBody>
      </p:sp>
      <p:sp>
        <p:nvSpPr>
          <p:cNvPr id="205" name="Text 205"/>
          <p:cNvSpPr txBox="1"/>
          <p:nvPr/>
        </p:nvSpPr>
        <p:spPr>
          <a:xfrm>
            <a:off x="2057400" y="5994400"/>
            <a:ext cx="812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800" b="1">
                <a:solidFill>
                  <a:srgbClr val="FFF8EB"/>
                </a:solidFill>
                <a:latin typeface="Aptos"/>
              </a:rPr>
              <a:t>Regla de oro: mostrar primero, explicar despues.</a:t>
            </a:r>
            <a:endParaRPr lang="es-E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</p:sp>
      <p:sp>
        <p:nvSpPr>
          <p:cNvPr id="207" name="Text 207"/>
          <p:cNvSpPr txBox="1"/>
          <p:nvPr/>
        </p:nvSpPr>
        <p:spPr>
          <a:xfrm>
            <a:off x="660400" y="5080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2800" b="1">
                <a:solidFill>
                  <a:srgbClr val="191919"/>
                </a:solidFill>
                <a:latin typeface="Aptos"/>
              </a:rPr>
              <a:t>Aprendizajes y dificultades</a:t>
            </a:r>
            <a:endParaRPr lang="es-ES" sz="2800"/>
          </a:p>
        </p:txBody>
      </p:sp>
      <p:sp>
        <p:nvSpPr>
          <p:cNvPr id="208" name="Text 208"/>
          <p:cNvSpPr txBox="1"/>
          <p:nvPr/>
        </p:nvSpPr>
        <p:spPr>
          <a:xfrm>
            <a:off x="685800" y="11176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200">
                <a:solidFill>
                  <a:srgbClr val="5C5241"/>
                </a:solidFill>
                <a:latin typeface="Aptos"/>
              </a:rPr>
              <a:t>Lo importante no es que todo fuera facil, sino como se resolvio.</a:t>
            </a:r>
            <a:endParaRPr lang="es-ES" sz="1200"/>
          </a:p>
        </p:txBody>
      </p:sp>
      <p:sp>
        <p:nvSpPr>
          <p:cNvPr id="209" name="Shape 209"/>
          <p:cNvSpPr/>
          <p:nvPr/>
        </p:nvSpPr>
        <p:spPr>
          <a:xfrm>
            <a:off x="889000" y="1905000"/>
            <a:ext cx="3175000" cy="2159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210" name="Shape 210"/>
          <p:cNvSpPr/>
          <p:nvPr/>
        </p:nvSpPr>
        <p:spPr>
          <a:xfrm>
            <a:off x="889000" y="1905000"/>
            <a:ext cx="76200" cy="2159000"/>
          </a:xfrm>
          <a:prstGeom prst="rect">
            <a:avLst/>
          </a:prstGeom>
          <a:solidFill>
            <a:srgbClr val="D2AA5C"/>
          </a:solidFill>
          <a:ln>
            <a:noFill/>
          </a:ln>
        </p:spPr>
      </p:sp>
      <p:sp>
        <p:nvSpPr>
          <p:cNvPr id="211" name="Text 211"/>
          <p:cNvSpPr txBox="1"/>
          <p:nvPr/>
        </p:nvSpPr>
        <p:spPr>
          <a:xfrm>
            <a:off x="1117600" y="20828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Integracion</a:t>
            </a:r>
            <a:endParaRPr lang="es-ES" sz="1500"/>
          </a:p>
        </p:txBody>
      </p:sp>
      <p:sp>
        <p:nvSpPr>
          <p:cNvPr id="212" name="Text 212"/>
          <p:cNvSpPr txBox="1"/>
          <p:nvPr/>
        </p:nvSpPr>
        <p:spPr>
          <a:xfrm>
            <a:off x="1117600" y="2463800"/>
            <a:ext cx="2794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Conectar React, Express y MySQL en un flujo real.</a:t>
            </a:r>
            <a:endParaRPr lang="es-ES" sz="1050"/>
          </a:p>
        </p:txBody>
      </p:sp>
      <p:sp>
        <p:nvSpPr>
          <p:cNvPr id="213" name="Shape 213"/>
          <p:cNvSpPr/>
          <p:nvPr/>
        </p:nvSpPr>
        <p:spPr>
          <a:xfrm>
            <a:off x="4508500" y="1905000"/>
            <a:ext cx="3175000" cy="2159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214" name="Shape 214"/>
          <p:cNvSpPr/>
          <p:nvPr/>
        </p:nvSpPr>
        <p:spPr>
          <a:xfrm>
            <a:off x="4508500" y="1905000"/>
            <a:ext cx="76200" cy="2159000"/>
          </a:xfrm>
          <a:prstGeom prst="rect">
            <a:avLst/>
          </a:prstGeom>
          <a:solidFill>
            <a:srgbClr val="4E79B5"/>
          </a:solidFill>
          <a:ln>
            <a:noFill/>
          </a:ln>
        </p:spPr>
      </p:sp>
      <p:sp>
        <p:nvSpPr>
          <p:cNvPr id="215" name="Text 215"/>
          <p:cNvSpPr txBox="1"/>
          <p:nvPr/>
        </p:nvSpPr>
        <p:spPr>
          <a:xfrm>
            <a:off x="4737100" y="20828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Estado</a:t>
            </a:r>
            <a:endParaRPr lang="es-ES" sz="1500"/>
          </a:p>
        </p:txBody>
      </p:sp>
      <p:sp>
        <p:nvSpPr>
          <p:cNvPr id="216" name="Text 216"/>
          <p:cNvSpPr txBox="1"/>
          <p:nvPr/>
        </p:nvSpPr>
        <p:spPr>
          <a:xfrm>
            <a:off x="4737100" y="2463800"/>
            <a:ext cx="2794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Mantener usuario, token, carrito y notificaciones.</a:t>
            </a:r>
            <a:endParaRPr lang="es-ES" sz="1050"/>
          </a:p>
        </p:txBody>
      </p:sp>
      <p:sp>
        <p:nvSpPr>
          <p:cNvPr id="217" name="Shape 217"/>
          <p:cNvSpPr/>
          <p:nvPr/>
        </p:nvSpPr>
        <p:spPr>
          <a:xfrm>
            <a:off x="8128000" y="1905000"/>
            <a:ext cx="3175000" cy="2159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0CCA0"/>
            </a:solidFill>
          </a:ln>
        </p:spPr>
      </p:sp>
      <p:sp>
        <p:nvSpPr>
          <p:cNvPr id="218" name="Shape 218"/>
          <p:cNvSpPr/>
          <p:nvPr/>
        </p:nvSpPr>
        <p:spPr>
          <a:xfrm>
            <a:off x="8128000" y="1905000"/>
            <a:ext cx="76200" cy="2159000"/>
          </a:xfrm>
          <a:prstGeom prst="rect">
            <a:avLst/>
          </a:prstGeom>
          <a:solidFill>
            <a:srgbClr val="4E9762"/>
          </a:solidFill>
          <a:ln>
            <a:noFill/>
          </a:ln>
        </p:spPr>
      </p:sp>
      <p:sp>
        <p:nvSpPr>
          <p:cNvPr id="219" name="Text 219"/>
          <p:cNvSpPr txBox="1"/>
          <p:nvPr/>
        </p:nvSpPr>
        <p:spPr>
          <a:xfrm>
            <a:off x="8356600" y="20828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500" b="1">
                <a:solidFill>
                  <a:srgbClr val="191919"/>
                </a:solidFill>
                <a:latin typeface="Aptos"/>
              </a:rPr>
              <a:t>Reservas</a:t>
            </a:r>
            <a:endParaRPr lang="es-ES" sz="1500"/>
          </a:p>
        </p:txBody>
      </p:sp>
      <p:sp>
        <p:nvSpPr>
          <p:cNvPr id="220" name="Text 220"/>
          <p:cNvSpPr txBox="1"/>
          <p:nvPr/>
        </p:nvSpPr>
        <p:spPr>
          <a:xfrm>
            <a:off x="8356600" y="2463800"/>
            <a:ext cx="2794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1050">
                <a:solidFill>
                  <a:srgbClr val="4F4A42"/>
                </a:solidFill>
                <a:latin typeface="Aptos"/>
              </a:rPr>
              <a:t>Fechas, totales, historial y consistencia de pedidos.</a:t>
            </a:r>
            <a:endParaRPr lang="es-ES" sz="1050"/>
          </a:p>
        </p:txBody>
      </p:sp>
      <p:sp>
        <p:nvSpPr>
          <p:cNvPr id="221" name="Text 221"/>
          <p:cNvSpPr txBox="1"/>
          <p:nvPr/>
        </p:nvSpPr>
        <p:spPr>
          <a:xfrm>
            <a:off x="1625600" y="4978400"/>
            <a:ext cx="8940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1800" b="1">
                <a:solidFill>
                  <a:srgbClr val="191919"/>
                </a:solidFill>
                <a:latin typeface="Aptos"/>
              </a:rPr>
              <a:t>Esto demuestra autonomia, organizacion y capacidad de resolver problemas reales.</a:t>
            </a:r>
            <a:endParaRPr lang="es-ES" sz="1800"/>
          </a:p>
        </p:txBody>
      </p:sp>
      <p:sp>
        <p:nvSpPr>
          <p:cNvPr id="222" name="Shape 222"/>
          <p:cNvSpPr/>
          <p:nvPr/>
        </p:nvSpPr>
        <p:spPr>
          <a:xfrm>
            <a:off x="660400" y="6477000"/>
            <a:ext cx="10871200" cy="12700"/>
          </a:xfrm>
          <a:prstGeom prst="rect">
            <a:avLst/>
          </a:prstGeom>
          <a:solidFill>
            <a:srgbClr val="DECBA0"/>
          </a:solidFill>
          <a:ln>
            <a:noFill/>
          </a:ln>
        </p:spPr>
      </p:sp>
      <p:sp>
        <p:nvSpPr>
          <p:cNvPr id="223" name="Text 223"/>
          <p:cNvSpPr txBox="1"/>
          <p:nvPr/>
        </p:nvSpPr>
        <p:spPr>
          <a:xfrm>
            <a:off x="660400" y="6604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800" b="1">
                <a:solidFill>
                  <a:srgbClr val="766037"/>
                </a:solidFill>
                <a:latin typeface="Aptos"/>
              </a:rPr>
              <a:t>RoyalRent</a:t>
            </a:r>
            <a:endParaRPr lang="es-ES" sz="800"/>
          </a:p>
        </p:txBody>
      </p:sp>
      <p:sp>
        <p:nvSpPr>
          <p:cNvPr id="224" name="Text 224"/>
          <p:cNvSpPr txBox="1"/>
          <p:nvPr/>
        </p:nvSpPr>
        <p:spPr>
          <a:xfrm>
            <a:off x="10896600" y="6604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800">
                <a:solidFill>
                  <a:srgbClr val="766037"/>
                </a:solidFill>
                <a:latin typeface="Aptos"/>
              </a:rPr>
              <a:t>11 / 12</a:t>
            </a:r>
            <a:endParaRPr lang="es-ES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Picture 22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6" name="Shape 2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>
              <a:alpha val="66000"/>
            </a:srgbClr>
          </a:solidFill>
          <a:ln>
            <a:noFill/>
          </a:ln>
        </p:spPr>
      </p:sp>
      <p:sp>
        <p:nvSpPr>
          <p:cNvPr id="227" name="Text 227"/>
          <p:cNvSpPr txBox="1"/>
          <p:nvPr/>
        </p:nvSpPr>
        <p:spPr>
          <a:xfrm>
            <a:off x="711200" y="685800"/>
            <a:ext cx="5461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s-ES" sz="3000" b="1">
                <a:solidFill>
                  <a:srgbClr val="FFFFFF"/>
                </a:solidFill>
                <a:latin typeface="Aptos"/>
              </a:rPr>
              <a:t>Mejoras futuras</a:t>
            </a:r>
            <a:endParaRPr lang="es-ES" sz="3000"/>
          </a:p>
        </p:txBody>
      </p:sp>
      <p:sp>
        <p:nvSpPr>
          <p:cNvPr id="228" name="Shape 228"/>
          <p:cNvSpPr/>
          <p:nvPr/>
        </p:nvSpPr>
        <p:spPr>
          <a:xfrm>
            <a:off x="1016000" y="1905000"/>
            <a:ext cx="1905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229" name="Text 229"/>
          <p:cNvSpPr txBox="1"/>
          <p:nvPr/>
        </p:nvSpPr>
        <p:spPr>
          <a:xfrm>
            <a:off x="1092200" y="2006600"/>
            <a:ext cx="1752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Pago real</a:t>
            </a:r>
            <a:endParaRPr lang="es-ES" sz="900"/>
          </a:p>
        </p:txBody>
      </p:sp>
      <p:sp>
        <p:nvSpPr>
          <p:cNvPr id="230" name="Shape 230"/>
          <p:cNvSpPr/>
          <p:nvPr/>
        </p:nvSpPr>
        <p:spPr>
          <a:xfrm>
            <a:off x="3556000" y="1905000"/>
            <a:ext cx="2667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231" name="Text 231"/>
          <p:cNvSpPr txBox="1"/>
          <p:nvPr/>
        </p:nvSpPr>
        <p:spPr>
          <a:xfrm>
            <a:off x="3632200" y="2006600"/>
            <a:ext cx="2514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Disponibilidad por fechas</a:t>
            </a:r>
            <a:endParaRPr lang="es-ES" sz="900"/>
          </a:p>
        </p:txBody>
      </p:sp>
      <p:sp>
        <p:nvSpPr>
          <p:cNvPr id="232" name="Shape 232"/>
          <p:cNvSpPr/>
          <p:nvPr/>
        </p:nvSpPr>
        <p:spPr>
          <a:xfrm>
            <a:off x="6858000" y="1905000"/>
            <a:ext cx="2286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233" name="Text 233"/>
          <p:cNvSpPr txBox="1"/>
          <p:nvPr/>
        </p:nvSpPr>
        <p:spPr>
          <a:xfrm>
            <a:off x="6934200" y="20066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Despliegue cloud</a:t>
            </a:r>
            <a:endParaRPr lang="es-ES" sz="900"/>
          </a:p>
        </p:txBody>
      </p:sp>
      <p:sp>
        <p:nvSpPr>
          <p:cNvPr id="234" name="Shape 234"/>
          <p:cNvSpPr/>
          <p:nvPr/>
        </p:nvSpPr>
        <p:spPr>
          <a:xfrm>
            <a:off x="9652000" y="1905000"/>
            <a:ext cx="1270000" cy="38100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235" name="Text 235"/>
          <p:cNvSpPr txBox="1"/>
          <p:nvPr/>
        </p:nvSpPr>
        <p:spPr>
          <a:xfrm>
            <a:off x="9728200" y="2006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900" b="1">
                <a:solidFill>
                  <a:srgbClr val="EED08B"/>
                </a:solidFill>
                <a:latin typeface="Aptos"/>
              </a:rPr>
              <a:t>Tests</a:t>
            </a:r>
            <a:endParaRPr lang="es-ES" sz="900"/>
          </a:p>
        </p:txBody>
      </p:sp>
      <p:sp>
        <p:nvSpPr>
          <p:cNvPr id="236" name="Text 236"/>
          <p:cNvSpPr txBox="1"/>
          <p:nvPr/>
        </p:nvSpPr>
        <p:spPr>
          <a:xfrm>
            <a:off x="1041400" y="34290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3000" b="1">
                <a:solidFill>
                  <a:srgbClr val="FFFFFF"/>
                </a:solidFill>
                <a:latin typeface="Aptos"/>
              </a:rPr>
              <a:t>RoyalRent demuestra una aplicacion full-stack completa, visual y funcional.</a:t>
            </a:r>
            <a:endParaRPr lang="es-ES" sz="3000"/>
          </a:p>
        </p:txBody>
      </p:sp>
      <p:sp>
        <p:nvSpPr>
          <p:cNvPr id="237" name="Text 237"/>
          <p:cNvSpPr txBox="1"/>
          <p:nvPr/>
        </p:nvSpPr>
        <p:spPr>
          <a:xfrm>
            <a:off x="4978400" y="4953000"/>
            <a:ext cx="2235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s-ES" sz="2800" b="1">
                <a:solidFill>
                  <a:srgbClr val="EED08B"/>
                </a:solidFill>
                <a:latin typeface="Aptos"/>
              </a:rPr>
              <a:t>Gracias</a:t>
            </a:r>
            <a:endParaRPr lang="es-E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yalRent">
  <a:themeElements>
    <a:clrScheme name="RoyalRent">
      <a:dk1>
        <a:srgbClr val="111111"/>
      </a:dk1>
      <a:lt1>
        <a:srgbClr val="FFF8EB"/>
      </a:lt1>
      <a:dk2>
        <a:srgbClr val="2A251D"/>
      </a:dk2>
      <a:lt2>
        <a:srgbClr val="FAF1DD"/>
      </a:lt2>
      <a:accent1>
        <a:srgbClr val="D2AA5C"/>
      </a:accent1>
      <a:accent2>
        <a:srgbClr val="4E79B5"/>
      </a:accent2>
      <a:accent3>
        <a:srgbClr val="4E9762"/>
      </a:accent3>
      <a:accent4>
        <a:srgbClr val="BC453F"/>
      </a:accent4>
      <a:accent5>
        <a:srgbClr val="EED08B"/>
      </a:accent5>
      <a:accent6>
        <a:srgbClr val="D6CDBE"/>
      </a:accent6>
      <a:hlink>
        <a:srgbClr val="4E79B5"/>
      </a:hlink>
      <a:folHlink>
        <a:srgbClr val="7A5FA0"/>
      </a:folHlink>
    </a:clrScheme>
    <a:fontScheme name="RoyalRent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RoyalRent">
      <a:fillStyleLst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12</Slides>
  <Company>RoyalRent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Defensa RoyalRent</dc:title>
  <dc:creator>RoyalRent</dc:creator>
  <cp:lastModifiedBy>RoyalRent</cp:lastModifiedBy>
  <dcterms:created xsi:type="dcterms:W3CDTF">2026-06-01T00:00:00Z</dcterms:created>
  <dcterms:modified xsi:type="dcterms:W3CDTF">2026-06-01T00:00:00Z</dcterms:modified>
</cp:coreProperties>
</file>